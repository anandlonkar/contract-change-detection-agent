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32004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300" kern="0" dirty="0">
                <a:solidFill>
                  <a:srgbClr val="B2E4EC"/>
                </a:solidFill>
              </a:rPr>
              <a:t>SENIOR SOLUTION ARCHITECT  ·  OPERATIONAL AI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731520"/>
            <a:ext cx="68580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AI-Enabled Commercial</a:t>
            </a:r>
            <a:endParaRPr lang="en-US" sz="4000" dirty="0"/>
          </a:p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Management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65760" y="2788920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CADCFC"/>
                </a:solidFill>
              </a:rPr>
              <a:t>Automated tariff change detection · ERP integration · Governed autonomy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3383280"/>
            <a:ext cx="2011680" cy="1280160"/>
          </a:xfrm>
          <a:prstGeom prst="rect">
            <a:avLst/>
          </a:prstGeom>
          <a:solidFill>
            <a:srgbClr val="028090">
              <a:alpha val="25000"/>
            </a:srgbClr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3456432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11480" y="3913632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Contract Ingestion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2578608" y="3383280"/>
            <a:ext cx="2011680" cy="1280160"/>
          </a:xfrm>
          <a:prstGeom prst="rect">
            <a:avLst/>
          </a:prstGeom>
          <a:solidFill>
            <a:srgbClr val="028090">
              <a:alpha val="25000"/>
            </a:srgbClr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5848" y="3456432"/>
            <a:ext cx="411480" cy="4114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624328" y="3913632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AI Extraction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4791456" y="3383280"/>
            <a:ext cx="2011680" cy="1280160"/>
          </a:xfrm>
          <a:prstGeom prst="rect">
            <a:avLst/>
          </a:prstGeom>
          <a:solidFill>
            <a:srgbClr val="028090">
              <a:alpha val="25000"/>
            </a:srgbClr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68696" y="3456432"/>
            <a:ext cx="411480" cy="41148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837176" y="3913632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Human Review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7004304" y="3383280"/>
            <a:ext cx="2011680" cy="1280160"/>
          </a:xfrm>
          <a:prstGeom prst="rect">
            <a:avLst/>
          </a:prstGeom>
          <a:solidFill>
            <a:srgbClr val="028090">
              <a:alpha val="25000"/>
            </a:srgbClr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81544" y="3456432"/>
            <a:ext cx="411480" cy="41148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7050024" y="3913632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ERP Integration</a:t>
            </a:r>
            <a:endParaRPr lang="en-US" sz="1100" dirty="0"/>
          </a:p>
        </p:txBody>
      </p:sp>
      <p:sp>
        <p:nvSpPr>
          <p:cNvPr id="18" name="Text 12"/>
          <p:cNvSpPr/>
          <p:nvPr/>
        </p:nvSpPr>
        <p:spPr>
          <a:xfrm>
            <a:off x="6858000" y="475488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April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Architecture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68580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A5568"/>
                </a:solidFill>
              </a:rPr>
              <a:t>End-to-end pipeline — from unstructured contract to governed ERP entry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228600" y="1143000"/>
            <a:ext cx="1417320" cy="13258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234440"/>
            <a:ext cx="438912" cy="4389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28600" y="1691640"/>
            <a:ext cx="1417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Ingest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228600" y="1984248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Textract OCR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+ PII Detection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1645920" y="1805940"/>
            <a:ext cx="155448" cy="0"/>
          </a:xfrm>
          <a:prstGeom prst="line">
            <a:avLst/>
          </a:prstGeom>
          <a:noFill/>
          <a:ln w="19050">
            <a:solidFill>
              <a:srgbClr val="4A5568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801368" y="1143000"/>
            <a:ext cx="1417320" cy="13258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234440"/>
            <a:ext cx="438912" cy="43891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801368" y="1691640"/>
            <a:ext cx="1417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Extract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1801368" y="1984248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Comprehend NER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Custom Entities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3218688" y="1805940"/>
            <a:ext cx="155448" cy="0"/>
          </a:xfrm>
          <a:prstGeom prst="line">
            <a:avLst/>
          </a:prstGeom>
          <a:noFill/>
          <a:ln w="19050">
            <a:solidFill>
              <a:srgbClr val="4A5568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3374136" y="1143000"/>
            <a:ext cx="1417320" cy="1325880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58768" y="1234440"/>
            <a:ext cx="438912" cy="43891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374136" y="1691640"/>
            <a:ext cx="1417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Infer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3374136" y="1984248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Strands Agent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Lineage RAG</a:t>
            </a:r>
            <a:endParaRPr lang="en-US" sz="900" dirty="0"/>
          </a:p>
        </p:txBody>
      </p:sp>
      <p:sp>
        <p:nvSpPr>
          <p:cNvPr id="18" name="Shape 13"/>
          <p:cNvSpPr/>
          <p:nvPr/>
        </p:nvSpPr>
        <p:spPr>
          <a:xfrm>
            <a:off x="4791456" y="1805940"/>
            <a:ext cx="155448" cy="0"/>
          </a:xfrm>
          <a:prstGeom prst="line">
            <a:avLst/>
          </a:prstGeom>
          <a:noFill/>
          <a:ln w="19050">
            <a:solidFill>
              <a:srgbClr val="4A5568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4946904" y="1143000"/>
            <a:ext cx="1417320" cy="13258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31536" y="1234440"/>
            <a:ext cx="438912" cy="43891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4946904" y="1691640"/>
            <a:ext cx="1417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Assess</a:t>
            </a:r>
            <a:endParaRPr lang="en-US" sz="1200" dirty="0"/>
          </a:p>
        </p:txBody>
      </p:sp>
      <p:sp>
        <p:nvSpPr>
          <p:cNvPr id="22" name="Text 16"/>
          <p:cNvSpPr/>
          <p:nvPr/>
        </p:nvSpPr>
        <p:spPr>
          <a:xfrm>
            <a:off x="4946904" y="1984248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Cost + Schedule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Code Interpreter</a:t>
            </a:r>
            <a:endParaRPr lang="en-US" sz="900" dirty="0"/>
          </a:p>
        </p:txBody>
      </p:sp>
      <p:sp>
        <p:nvSpPr>
          <p:cNvPr id="23" name="Shape 17"/>
          <p:cNvSpPr/>
          <p:nvPr/>
        </p:nvSpPr>
        <p:spPr>
          <a:xfrm>
            <a:off x="6364224" y="1805940"/>
            <a:ext cx="155448" cy="0"/>
          </a:xfrm>
          <a:prstGeom prst="line">
            <a:avLst/>
          </a:prstGeom>
          <a:noFill/>
          <a:ln w="19050">
            <a:solidFill>
              <a:srgbClr val="4A5568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6519672" y="1143000"/>
            <a:ext cx="1417320" cy="1325880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04304" y="1234440"/>
            <a:ext cx="438912" cy="438912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6519672" y="1691640"/>
            <a:ext cx="1417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Output</a:t>
            </a:r>
            <a:endParaRPr lang="en-US" sz="1200" dirty="0"/>
          </a:p>
        </p:txBody>
      </p:sp>
      <p:sp>
        <p:nvSpPr>
          <p:cNvPr id="27" name="Text 20"/>
          <p:cNvSpPr/>
          <p:nvPr/>
        </p:nvSpPr>
        <p:spPr>
          <a:xfrm>
            <a:off x="6519672" y="1984248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ERP Push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+ Change Notice</a:t>
            </a:r>
            <a:endParaRPr lang="en-US" sz="900" dirty="0"/>
          </a:p>
        </p:txBody>
      </p:sp>
      <p:sp>
        <p:nvSpPr>
          <p:cNvPr id="28" name="Shape 21"/>
          <p:cNvSpPr/>
          <p:nvPr/>
        </p:nvSpPr>
        <p:spPr>
          <a:xfrm>
            <a:off x="228600" y="2697480"/>
            <a:ext cx="8595360" cy="502920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0040" y="2761488"/>
            <a:ext cx="320040" cy="320040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713232" y="2743200"/>
            <a:ext cx="7955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7706"/>
                </a:solidFill>
              </a:rPr>
              <a:t>Human-in-the-Loop touchpoints: (1) Extraction review  ·  (2) ERP push approval  ·  (3) Change notice redline review</a:t>
            </a:r>
            <a:endParaRPr lang="en-US" sz="1100" dirty="0"/>
          </a:p>
        </p:txBody>
      </p:sp>
      <p:sp>
        <p:nvSpPr>
          <p:cNvPr id="31" name="Shape 23"/>
          <p:cNvSpPr/>
          <p:nvPr/>
        </p:nvSpPr>
        <p:spPr>
          <a:xfrm>
            <a:off x="228600" y="3364992"/>
            <a:ext cx="8595360" cy="594360"/>
          </a:xfrm>
          <a:prstGeom prst="rect">
            <a:avLst/>
          </a:prstGeom>
          <a:solidFill>
            <a:srgbClr val="EDE9FE"/>
          </a:solidFill>
          <a:ln w="12700">
            <a:solidFill>
              <a:srgbClr val="5B21B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3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0040" y="3474720"/>
            <a:ext cx="347472" cy="347472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749808" y="3456432"/>
            <a:ext cx="7955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</a:rPr>
              <a:t>Schema Enforcement  —  Strict prompting → Pydantic validation → retry → HITL. LLMs never touch financial math.</a:t>
            </a:r>
            <a:endParaRPr lang="en-US" sz="1100" dirty="0"/>
          </a:p>
        </p:txBody>
      </p:sp>
      <p:sp>
        <p:nvSpPr>
          <p:cNvPr id="34" name="Shape 25"/>
          <p:cNvSpPr/>
          <p:nvPr/>
        </p:nvSpPr>
        <p:spPr>
          <a:xfrm>
            <a:off x="228600" y="4078224"/>
            <a:ext cx="8595360" cy="594360"/>
          </a:xfrm>
          <a:prstGeom prst="rect">
            <a:avLst/>
          </a:prstGeom>
          <a:solidFill>
            <a:srgbClr val="B2E4EC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3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4187952"/>
            <a:ext cx="347472" cy="347472"/>
          </a:xfrm>
          <a:prstGeom prst="rect">
            <a:avLst/>
          </a:prstGeom>
        </p:spPr>
      </p:pic>
      <p:sp>
        <p:nvSpPr>
          <p:cNvPr id="36" name="Text 26"/>
          <p:cNvSpPr/>
          <p:nvPr/>
        </p:nvSpPr>
        <p:spPr>
          <a:xfrm>
            <a:off x="749808" y="4169664"/>
            <a:ext cx="7955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</a:rPr>
              <a:t>Claim Lifecycle Tracker  —  Step Functions state machine observes PMIS via EventBridge polling. Eventually consistent. PMIS is system of record.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Usage &amp; Managed Autonomy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74320" y="822960"/>
            <a:ext cx="4114800" cy="1828800"/>
          </a:xfrm>
          <a:prstGeom prst="rect">
            <a:avLst/>
          </a:prstGeom>
          <a:solidFill>
            <a:srgbClr val="D1FAE5"/>
          </a:solidFill>
          <a:ln w="19050">
            <a:solidFill>
              <a:srgbClr val="065F4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914400"/>
            <a:ext cx="347472" cy="34747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04672" y="896112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F46"/>
                </a:solidFill>
              </a:rPr>
              <a:t>AI USED FOR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384048" y="1280160"/>
            <a:ext cx="3840480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</a:rPr>
              <a:t>Unstructured text extraction (Textract + Comprehend NER)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</a:rPr>
              <a:t>Lineage inference from historical context (Strands + RAG)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</a:rPr>
              <a:t>Change notice draft population (template agent)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</a:rPr>
              <a:t>Anomaly detection &amp; classification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274320" y="2834640"/>
            <a:ext cx="4114800" cy="1828800"/>
          </a:xfrm>
          <a:prstGeom prst="rect">
            <a:avLst/>
          </a:prstGeom>
          <a:solidFill>
            <a:srgbClr val="FEE2E2"/>
          </a:solidFill>
          <a:ln w="19050">
            <a:solidFill>
              <a:srgbClr val="B91C1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2926080"/>
            <a:ext cx="347472" cy="34747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04672" y="2907792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91C1C"/>
                </a:solidFill>
              </a:rPr>
              <a:t>AI NOT USED FOR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384048" y="3291840"/>
            <a:ext cx="3840480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</a:rPr>
              <a:t>Financial arithmetic — Python sandbox only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</a:rPr>
              <a:t>Template selection — deterministic PMIS lookup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</a:rPr>
              <a:t>Data residency routing — inherited from project record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</a:rPr>
              <a:t>Final ERP push — requires human approval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4663440" y="822960"/>
            <a:ext cx="429768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4754880" y="91440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E2761"/>
                </a:solidFill>
              </a:rPr>
              <a:t>AUTONOMY PROGRESSION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4754880" y="1371600"/>
            <a:ext cx="91440" cy="65836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4919472" y="1371600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91C1C"/>
                </a:solidFill>
              </a:rPr>
              <a:t>Phase 1</a:t>
            </a:r>
            <a:endParaRPr lang="en-US" sz="950" dirty="0"/>
          </a:p>
        </p:txBody>
      </p:sp>
      <p:sp>
        <p:nvSpPr>
          <p:cNvPr id="15" name="Text 11"/>
          <p:cNvSpPr/>
          <p:nvPr/>
        </p:nvSpPr>
        <p:spPr>
          <a:xfrm>
            <a:off x="4919472" y="1627632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827"/>
                </a:solidFill>
              </a:rPr>
              <a:t>100% HITL Shadow Mode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4919472" y="182880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</a:rPr>
              <a:t>Zero autonomy. All outputs reviewed.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4754880" y="2176272"/>
            <a:ext cx="91440" cy="65836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4919472" y="2176272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97706"/>
                </a:solidFill>
              </a:rPr>
              <a:t>Phase 2</a:t>
            </a:r>
            <a:endParaRPr lang="en-US" sz="950" dirty="0"/>
          </a:p>
        </p:txBody>
      </p:sp>
      <p:sp>
        <p:nvSpPr>
          <p:cNvPr id="19" name="Text 15"/>
          <p:cNvSpPr/>
          <p:nvPr/>
        </p:nvSpPr>
        <p:spPr>
          <a:xfrm>
            <a:off x="4919472" y="2432304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827"/>
                </a:solidFill>
              </a:rPr>
              <a:t>Metric Tracking Active</a:t>
            </a:r>
            <a:endParaRPr lang="en-US" sz="1050" dirty="0"/>
          </a:p>
        </p:txBody>
      </p:sp>
      <p:sp>
        <p:nvSpPr>
          <p:cNvPr id="20" name="Text 16"/>
          <p:cNvSpPr/>
          <p:nvPr/>
        </p:nvSpPr>
        <p:spPr>
          <a:xfrm>
            <a:off x="4919472" y="2633472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</a:rPr>
              <a:t>Override rate monitored per pipeline stage.</a:t>
            </a:r>
            <a:endParaRPr lang="en-US" sz="950" dirty="0"/>
          </a:p>
        </p:txBody>
      </p:sp>
      <p:sp>
        <p:nvSpPr>
          <p:cNvPr id="21" name="Shape 17"/>
          <p:cNvSpPr/>
          <p:nvPr/>
        </p:nvSpPr>
        <p:spPr>
          <a:xfrm>
            <a:off x="4754880" y="2980944"/>
            <a:ext cx="91440" cy="6583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4919472" y="2980944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28090"/>
                </a:solidFill>
              </a:rPr>
              <a:t>Phase 3</a:t>
            </a:r>
            <a:endParaRPr lang="en-US" sz="950" dirty="0"/>
          </a:p>
        </p:txBody>
      </p:sp>
      <p:sp>
        <p:nvSpPr>
          <p:cNvPr id="23" name="Text 19"/>
          <p:cNvSpPr/>
          <p:nvPr/>
        </p:nvSpPr>
        <p:spPr>
          <a:xfrm>
            <a:off x="4919472" y="3236976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827"/>
                </a:solidFill>
              </a:rPr>
              <a:t>Threshold Triggered</a:t>
            </a:r>
            <a:endParaRPr lang="en-US" sz="1050" dirty="0"/>
          </a:p>
        </p:txBody>
      </p:sp>
      <p:sp>
        <p:nvSpPr>
          <p:cNvPr id="24" name="Text 20"/>
          <p:cNvSpPr/>
          <p:nvPr/>
        </p:nvSpPr>
        <p:spPr>
          <a:xfrm>
            <a:off x="4919472" y="3438144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</a:rPr>
              <a:t>Override rate &lt; 5% sustained 30 days → autonomy gate opens.</a:t>
            </a:r>
            <a:endParaRPr lang="en-US" sz="950" dirty="0"/>
          </a:p>
        </p:txBody>
      </p:sp>
      <p:sp>
        <p:nvSpPr>
          <p:cNvPr id="25" name="Shape 21"/>
          <p:cNvSpPr/>
          <p:nvPr/>
        </p:nvSpPr>
        <p:spPr>
          <a:xfrm>
            <a:off x="4754880" y="3785616"/>
            <a:ext cx="91440" cy="658368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4919472" y="3785616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65F46"/>
                </a:solidFill>
              </a:rPr>
              <a:t>Phase 4</a:t>
            </a:r>
            <a:endParaRPr lang="en-US" sz="950" dirty="0"/>
          </a:p>
        </p:txBody>
      </p:sp>
      <p:sp>
        <p:nvSpPr>
          <p:cNvPr id="27" name="Text 23"/>
          <p:cNvSpPr/>
          <p:nvPr/>
        </p:nvSpPr>
        <p:spPr>
          <a:xfrm>
            <a:off x="4919472" y="4041648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827"/>
                </a:solidFill>
              </a:rPr>
              <a:t>Selective Autonomy</a:t>
            </a:r>
            <a:endParaRPr lang="en-US" sz="1050" dirty="0"/>
          </a:p>
        </p:txBody>
      </p:sp>
      <p:sp>
        <p:nvSpPr>
          <p:cNvPr id="28" name="Text 24"/>
          <p:cNvSpPr/>
          <p:nvPr/>
        </p:nvSpPr>
        <p:spPr>
          <a:xfrm>
            <a:off x="4919472" y="4242816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</a:rPr>
              <a:t>High-confidence classes auto-processed. Circuit breaker active.</a:t>
            </a:r>
            <a:endParaRPr lang="en-US" sz="950" dirty="0"/>
          </a:p>
        </p:txBody>
      </p:sp>
      <p:sp>
        <p:nvSpPr>
          <p:cNvPr id="29" name="Shape 25"/>
          <p:cNvSpPr/>
          <p:nvPr/>
        </p:nvSpPr>
        <p:spPr>
          <a:xfrm>
            <a:off x="274320" y="4663440"/>
            <a:ext cx="8686800" cy="347472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411480" y="4690872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97706"/>
                </a:solidFill>
              </a:rPr>
              <a:t>Circuit Breaker: If override rate spikes above 5% in production, system automatically returns to 100% HITL and alerts on-call.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Strategy &amp; Data Flow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749808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B7280"/>
                </a:solidFill>
              </a:rPr>
              <a:t>DATA PAYLOAD TRANSFORMATION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274320" y="1024128"/>
            <a:ext cx="137160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109728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Binary PDF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74320" y="1426464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ADCFC"/>
                </a:solidFill>
              </a:rPr>
              <a:t>Unstructured input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1645920" y="1412748"/>
            <a:ext cx="109728" cy="0"/>
          </a:xfrm>
          <a:prstGeom prst="line">
            <a:avLst/>
          </a:prstGeom>
          <a:noFill/>
          <a:ln w="19050">
            <a:solidFill>
              <a:srgbClr val="4A556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755648" y="1024128"/>
            <a:ext cx="137160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755648" y="109728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Textract JSON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755648" y="1426464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ADCFC"/>
                </a:solidFill>
              </a:rPr>
              <a:t>Blocks + bounding boxes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127248" y="1412748"/>
            <a:ext cx="109728" cy="0"/>
          </a:xfrm>
          <a:prstGeom prst="line">
            <a:avLst/>
          </a:prstGeom>
          <a:noFill/>
          <a:ln w="19050">
            <a:solidFill>
              <a:srgbClr val="4A556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36976" y="1024128"/>
            <a:ext cx="137160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236976" y="109728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+ PII Tags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236976" y="1426464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ADCFC"/>
                </a:solidFill>
              </a:rPr>
              <a:t>Redacted from LLM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608576" y="1412748"/>
            <a:ext cx="109728" cy="0"/>
          </a:xfrm>
          <a:prstGeom prst="line">
            <a:avLst/>
          </a:prstGeom>
          <a:noFill/>
          <a:ln w="19050">
            <a:solidFill>
              <a:srgbClr val="4A556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18304" y="1024128"/>
            <a:ext cx="137160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718304" y="109728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+ NER Entities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718304" y="1426464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ADCFC"/>
                </a:solidFill>
              </a:rPr>
              <a:t>Vendor, ID, clauses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6089904" y="1412748"/>
            <a:ext cx="109728" cy="0"/>
          </a:xfrm>
          <a:prstGeom prst="line">
            <a:avLst/>
          </a:prstGeom>
          <a:noFill/>
          <a:ln w="19050">
            <a:solidFill>
              <a:srgbClr val="4A556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99632" y="1024128"/>
            <a:ext cx="137160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199632" y="109728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+ Lineage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199632" y="1426464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ADCFC"/>
                </a:solidFill>
              </a:rPr>
              <a:t>Inferred project link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571232" y="1412748"/>
            <a:ext cx="109728" cy="0"/>
          </a:xfrm>
          <a:prstGeom prst="line">
            <a:avLst/>
          </a:prstGeom>
          <a:noFill/>
          <a:ln w="19050">
            <a:solidFill>
              <a:srgbClr val="4A556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680960" y="1024128"/>
            <a:ext cx="1371600" cy="777240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680960" y="109728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ERP Schema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680960" y="1426464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ADCFC"/>
                </a:solidFill>
              </a:rPr>
              <a:t>Strict typed payload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274320" y="1993392"/>
            <a:ext cx="2834640" cy="1920240"/>
          </a:xfrm>
          <a:prstGeom prst="rect">
            <a:avLst/>
          </a:prstGeom>
          <a:solidFill>
            <a:srgbClr val="B2E4EC"/>
          </a:solidFill>
          <a:ln w="1524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2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2066544"/>
            <a:ext cx="347472" cy="347472"/>
          </a:xfrm>
          <a:prstGeom prst="rect">
            <a:avLst/>
          </a:prstGeom>
        </p:spPr>
      </p:pic>
      <p:sp>
        <p:nvSpPr>
          <p:cNvPr id="29" name="Text 26"/>
          <p:cNvSpPr/>
          <p:nvPr/>
        </p:nvSpPr>
        <p:spPr>
          <a:xfrm>
            <a:off x="804672" y="2048256"/>
            <a:ext cx="22128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</a:rPr>
              <a:t>ERP Integration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384048" y="2432304"/>
            <a:ext cx="2633472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827"/>
                </a:solidFill>
              </a:rPr>
              <a:t>Modern: MCP server via AgentCore Gateway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11827"/>
                </a:solidFill>
              </a:rPr>
              <a:t>Legacy: Scheduled batch + file generation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11827"/>
                </a:solidFill>
              </a:rPr>
              <a:t>Fallback: Staging tables queue payloads when ERP is down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3264408" y="1993392"/>
            <a:ext cx="2834640" cy="1920240"/>
          </a:xfrm>
          <a:prstGeom prst="rect">
            <a:avLst/>
          </a:prstGeom>
          <a:solidFill>
            <a:srgbClr val="EDE9FE"/>
          </a:solidFill>
          <a:ln w="15240">
            <a:solidFill>
              <a:srgbClr val="5B21B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3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4136" y="2066544"/>
            <a:ext cx="347472" cy="347472"/>
          </a:xfrm>
          <a:prstGeom prst="rect">
            <a:avLst/>
          </a:prstGeom>
        </p:spPr>
      </p:pic>
      <p:sp>
        <p:nvSpPr>
          <p:cNvPr id="33" name="Text 29"/>
          <p:cNvSpPr/>
          <p:nvPr/>
        </p:nvSpPr>
        <p:spPr>
          <a:xfrm>
            <a:off x="3794760" y="2048256"/>
            <a:ext cx="22128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21B6"/>
                </a:solidFill>
              </a:rPr>
              <a:t>PMIS Integration</a:t>
            </a:r>
            <a:endParaRPr lang="en-US" sz="1100" dirty="0"/>
          </a:p>
        </p:txBody>
      </p:sp>
      <p:sp>
        <p:nvSpPr>
          <p:cNvPr id="34" name="Text 30"/>
          <p:cNvSpPr/>
          <p:nvPr/>
        </p:nvSpPr>
        <p:spPr>
          <a:xfrm>
            <a:off x="3374136" y="2432304"/>
            <a:ext cx="2633472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827"/>
                </a:solidFill>
              </a:rPr>
              <a:t>Primavera P6 / MS Project via API or XER file export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11827"/>
                </a:solidFill>
              </a:rPr>
              <a:t>EventBridge polls claim state idempotently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11827"/>
                </a:solidFill>
              </a:rPr>
              <a:t>PMIS is system of record — Step Functions is observer</a:t>
            </a:r>
            <a:endParaRPr lang="en-US" sz="950" dirty="0"/>
          </a:p>
        </p:txBody>
      </p:sp>
      <p:sp>
        <p:nvSpPr>
          <p:cNvPr id="35" name="Shape 31"/>
          <p:cNvSpPr/>
          <p:nvPr/>
        </p:nvSpPr>
        <p:spPr>
          <a:xfrm>
            <a:off x="6254496" y="1993392"/>
            <a:ext cx="2834640" cy="1920240"/>
          </a:xfrm>
          <a:prstGeom prst="rect">
            <a:avLst/>
          </a:prstGeom>
          <a:solidFill>
            <a:srgbClr val="FEF3C7"/>
          </a:solidFill>
          <a:ln w="1524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3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4224" y="2066544"/>
            <a:ext cx="347472" cy="347472"/>
          </a:xfrm>
          <a:prstGeom prst="rect">
            <a:avLst/>
          </a:prstGeom>
        </p:spPr>
      </p:pic>
      <p:sp>
        <p:nvSpPr>
          <p:cNvPr id="37" name="Text 32"/>
          <p:cNvSpPr/>
          <p:nvPr/>
        </p:nvSpPr>
        <p:spPr>
          <a:xfrm>
            <a:off x="6784848" y="2048256"/>
            <a:ext cx="22128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</a:rPr>
              <a:t>Document Repository</a:t>
            </a:r>
            <a:endParaRPr lang="en-US" sz="1100" dirty="0"/>
          </a:p>
        </p:txBody>
      </p:sp>
      <p:sp>
        <p:nvSpPr>
          <p:cNvPr id="38" name="Text 33"/>
          <p:cNvSpPr/>
          <p:nvPr/>
        </p:nvSpPr>
        <p:spPr>
          <a:xfrm>
            <a:off x="6364224" y="2432304"/>
            <a:ext cx="2633472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827"/>
                </a:solidFill>
              </a:rPr>
              <a:t>Templates retrieved from S3 / ProjectWise / SharePoint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11827"/>
                </a:solidFill>
              </a:rPr>
              <a:t>Selection is deterministic lookup — not semantic search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11827"/>
                </a:solidFill>
              </a:rPr>
              <a:t>Approved notices written back to repo after HITL sign-off</a:t>
            </a:r>
            <a:endParaRPr lang="en-US" sz="950" dirty="0"/>
          </a:p>
        </p:txBody>
      </p:sp>
      <p:sp>
        <p:nvSpPr>
          <p:cNvPr id="39" name="Text 34"/>
          <p:cNvSpPr/>
          <p:nvPr/>
        </p:nvSpPr>
        <p:spPr>
          <a:xfrm>
            <a:off x="365760" y="4005072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B7280"/>
                </a:solidFill>
              </a:rPr>
              <a:t>FAILURE MODES &amp; MITIGATIONS</a:t>
            </a:r>
            <a:endParaRPr lang="en-US" sz="900" dirty="0"/>
          </a:p>
        </p:txBody>
      </p:sp>
      <p:sp>
        <p:nvSpPr>
          <p:cNvPr id="40" name="Text 35"/>
          <p:cNvSpPr/>
          <p:nvPr/>
        </p:nvSpPr>
        <p:spPr>
          <a:xfrm>
            <a:off x="274320" y="4279392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API Throttling → SQS exponential backoff   ·   ERP Down → Staging table queue   ·   Hallucination Spike → Circuit breaker to 100% HITL   ·   PMIS Downtime → Next poll cycle catches up (idempotent)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Governance, Security &amp; Observability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68580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ADCFC"/>
                </a:solidFill>
              </a:rPr>
              <a:t>Three distinct governance layers — data, action, and audit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2834640" cy="3474720"/>
          </a:xfrm>
          <a:prstGeom prst="rect">
            <a:avLst/>
          </a:prstGeom>
          <a:solidFill>
            <a:srgbClr val="0D2B30"/>
          </a:solidFill>
          <a:ln w="1905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97280"/>
            <a:ext cx="2834640" cy="4572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133856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01  Data Governance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84048" y="1664208"/>
            <a:ext cx="2615184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ADCFC"/>
                </a:solidFill>
              </a:rPr>
              <a:t>Residency: Inherited from PMIS project record at upload — AI never determines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ADCFC"/>
                </a:solidFill>
              </a:rPr>
              <a:t>PII: Comprehend PII pass at ingestion — redacted from LLM payloads; role-gated at UI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ADCFC"/>
                </a:solidFill>
              </a:rPr>
              <a:t>Encryption: KMS at rest, TLS 1.2+ in transit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64408" y="1097280"/>
            <a:ext cx="2834640" cy="3474720"/>
          </a:xfrm>
          <a:prstGeom prst="rect">
            <a:avLst/>
          </a:prstGeom>
          <a:solidFill>
            <a:srgbClr val="2B1F0A"/>
          </a:solidFill>
          <a:ln w="1905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64408" y="1097280"/>
            <a:ext cx="2834640" cy="4572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55848" y="1133856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02  Action Governance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374136" y="1664208"/>
            <a:ext cx="2615184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ADCFC"/>
                </a:solidFill>
              </a:rPr>
              <a:t>RBAC: Tier 1 Analysts (extraction corrections) · Tier 2 Managers (ERP push approval)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ADCFC"/>
                </a:solidFill>
              </a:rPr>
              <a:t>Threshold escalation: % of contract value + floor absolute amount — from PMIS record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ADCFC"/>
                </a:solidFill>
              </a:rPr>
              <a:t>Schedule equivalent: Float consumption % of critical path triggers same escalation logic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254496" y="1097280"/>
            <a:ext cx="2834640" cy="3474720"/>
          </a:xfrm>
          <a:prstGeom prst="rect">
            <a:avLst/>
          </a:prstGeom>
          <a:solidFill>
            <a:srgbClr val="1A0F2B"/>
          </a:solidFill>
          <a:ln w="19050">
            <a:solidFill>
              <a:srgbClr val="5B21B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54496" y="1097280"/>
            <a:ext cx="2834640" cy="457200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45936" y="1133856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03  Audit Governance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364224" y="1664208"/>
            <a:ext cx="2615184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ADCFC"/>
                </a:solidFill>
              </a:rPr>
              <a:t>S3 Object Lock (WORM): Immutable audit record per document — AI output vs human decision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ADCFC"/>
                </a:solidFill>
              </a:rPr>
              <a:t>CloudTrail: API-level action log for all agent tool calls and ERP mutations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ADCFC"/>
                </a:solidFill>
              </a:rPr>
              <a:t>Hash chaining: Tamper-evident records — legally admissible in arbitration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4681728"/>
            <a:ext cx="8595360" cy="347472"/>
          </a:xfrm>
          <a:prstGeom prst="rect">
            <a:avLst/>
          </a:prstGeom>
          <a:solidFill>
            <a:srgbClr val="1F2937"/>
          </a:solidFill>
          <a:ln w="12700">
            <a:solidFill>
              <a:srgbClr val="4A556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4727448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</a:rPr>
              <a:t>Observability: CloudWatch (macro) · OTel + Deployment Hash (micro trace) · AgentCore agentic trace routing · Override rate dashboard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Framework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68580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A5568"/>
                </a:solidFill>
              </a:rPr>
              <a:t>A continuous quality system — not a one-time pre-production check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105156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B7280"/>
                </a:solidFill>
              </a:rPr>
              <a:t>LAYERED METRICS PER PIPELINE STAGE</a:t>
            </a:r>
            <a:endParaRPr lang="en-US" sz="9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325880"/>
          <a:ext cx="5669280" cy="2377440"/>
        </p:xfrm>
        <a:graphic>
          <a:graphicData uri="http://schemas.openxmlformats.org/drawingml/2006/table">
            <a:tbl>
              <a:tblPr/>
              <a:tblGrid>
                <a:gridCol w="1371600"/>
                <a:gridCol w="1920240"/>
                <a:gridCol w="2377440"/>
              </a:tblGrid>
              <a:tr h="396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Stage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Metric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Production Gate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827"/>
                          </a:solidFill>
                        </a:rPr>
                        <a:t>Textract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827"/>
                          </a:solidFill>
                        </a:rPr>
                        <a:t>Character Error Rate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827"/>
                          </a:solidFill>
                        </a:rPr>
                        <a:t>&lt; 2% CER on stratified sample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827"/>
                          </a:solidFill>
                        </a:rPr>
                        <a:t>Comprehend NER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827"/>
                          </a:solidFill>
                        </a:rPr>
                        <a:t>Entity Precision + Recall (separate)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827"/>
                          </a:solidFill>
                        </a:rPr>
                        <a:t>Recall weighted higher — missed claim worse than false positive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827"/>
                          </a:solidFill>
                        </a:rPr>
                        <a:t>Lineage Inference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827"/>
                          </a:solidFill>
                        </a:rPr>
                        <a:t>% Correct Project ID Match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827"/>
                          </a:solidFill>
                        </a:rPr>
                        <a:t>Baseline established in Phase 1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827"/>
                          </a:solidFill>
                        </a:rPr>
                        <a:t>Final ERP Payload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827"/>
                          </a:solidFill>
                        </a:rPr>
                        <a:t>Exact Match Rate vs Ground Truth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827"/>
                          </a:solidFill>
                        </a:rPr>
                        <a:t>&gt; 85% before any autonomy granted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827"/>
                          </a:solidFill>
                        </a:rPr>
                        <a:t>Production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827"/>
                          </a:solidFill>
                        </a:rPr>
                        <a:t>Human Override Rate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827"/>
                          </a:solidFill>
                        </a:rPr>
                        <a:t>&lt; 5% sustained 30 days → autonomy gate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126480" y="1051560"/>
            <a:ext cx="2834640" cy="26517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217920" y="114300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CADCFC"/>
                </a:solidFill>
              </a:rPr>
              <a:t>STRATIFIED GOLDEN DATASET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6217920" y="1508760"/>
            <a:ext cx="265176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ADCFC"/>
                </a:solidFill>
              </a:rPr>
              <a:t>1.  Contract type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ADCFC"/>
                </a:solidFill>
              </a:rPr>
              <a:t>(subcontract, supply, professional services)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ADCFC"/>
                </a:solidFill>
              </a:rPr>
              <a:t>2.  Jurisdiction &amp; language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ADCFC"/>
                </a:solidFill>
              </a:rPr>
              <a:t>3.  Data completeness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ADCFC"/>
                </a:solidFill>
              </a:rPr>
              <a:t>(clean vs. missing lineage — the hard cases)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ADCFC"/>
                </a:solidFill>
              </a:rPr>
              <a:t>4.  Change complexity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ADCFC"/>
                </a:solidFill>
              </a:rPr>
              <a:t>(unit price vs. multi-clause amendment)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274320" y="3794760"/>
            <a:ext cx="8686800" cy="1207008"/>
          </a:xfrm>
          <a:prstGeom prst="rect">
            <a:avLst/>
          </a:prstGeom>
          <a:solidFill>
            <a:srgbClr val="D1FAE5"/>
          </a:solidFill>
          <a:ln w="12700">
            <a:solidFill>
              <a:srgbClr val="065F4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411480" y="385876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65F46"/>
                </a:solidFill>
              </a:rPr>
              <a:t>CONTINUOUS FEEDBACK LOOP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365760" y="4133088"/>
            <a:ext cx="1572768" cy="749808"/>
          </a:xfrm>
          <a:prstGeom prst="rect">
            <a:avLst/>
          </a:prstGeom>
          <a:solidFill>
            <a:srgbClr val="FFFFFF"/>
          </a:solidFill>
          <a:ln w="10160">
            <a:solidFill>
              <a:srgbClr val="065F4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02336" y="4169664"/>
            <a:ext cx="1499616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11827"/>
                </a:solidFill>
              </a:rPr>
              <a:t>Human Override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111827"/>
                </a:solidFill>
              </a:rPr>
              <a:t>in Production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1938528" y="4507992"/>
            <a:ext cx="164592" cy="0"/>
          </a:xfrm>
          <a:prstGeom prst="line">
            <a:avLst/>
          </a:prstGeom>
          <a:noFill/>
          <a:ln w="19050">
            <a:solidFill>
              <a:srgbClr val="065F46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103120" y="4133088"/>
            <a:ext cx="1572768" cy="749808"/>
          </a:xfrm>
          <a:prstGeom prst="rect">
            <a:avLst/>
          </a:prstGeom>
          <a:solidFill>
            <a:srgbClr val="FFFFFF"/>
          </a:solidFill>
          <a:ln w="10160">
            <a:solidFill>
              <a:srgbClr val="065F4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139696" y="4169664"/>
            <a:ext cx="1499616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11827"/>
                </a:solidFill>
              </a:rPr>
              <a:t>Written to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111827"/>
                </a:solidFill>
              </a:rPr>
              <a:t>Feedback Store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3675888" y="4507992"/>
            <a:ext cx="164592" cy="0"/>
          </a:xfrm>
          <a:prstGeom prst="line">
            <a:avLst/>
          </a:prstGeom>
          <a:noFill/>
          <a:ln w="19050">
            <a:solidFill>
              <a:srgbClr val="065F46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3840480" y="4133088"/>
            <a:ext cx="1572768" cy="749808"/>
          </a:xfrm>
          <a:prstGeom prst="rect">
            <a:avLst/>
          </a:prstGeom>
          <a:solidFill>
            <a:srgbClr val="FFFFFF"/>
          </a:solidFill>
          <a:ln w="10160">
            <a:solidFill>
              <a:srgbClr val="065F4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877056" y="4169664"/>
            <a:ext cx="1499616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11827"/>
                </a:solidFill>
              </a:rPr>
              <a:t>Promoted to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111827"/>
                </a:solidFill>
              </a:rPr>
              <a:t>Golden Dataset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5413248" y="4507992"/>
            <a:ext cx="164592" cy="0"/>
          </a:xfrm>
          <a:prstGeom prst="line">
            <a:avLst/>
          </a:prstGeom>
          <a:noFill/>
          <a:ln w="19050">
            <a:solidFill>
              <a:srgbClr val="065F46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5577840" y="4133088"/>
            <a:ext cx="1572768" cy="749808"/>
          </a:xfrm>
          <a:prstGeom prst="rect">
            <a:avLst/>
          </a:prstGeom>
          <a:solidFill>
            <a:srgbClr val="FFFFFF"/>
          </a:solidFill>
          <a:ln w="10160">
            <a:solidFill>
              <a:srgbClr val="065F46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614416" y="4169664"/>
            <a:ext cx="1499616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11827"/>
                </a:solidFill>
              </a:rPr>
              <a:t>Comprehend + Prompt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111827"/>
                </a:solidFill>
              </a:rPr>
              <a:t>Re-tuning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7150608" y="4507992"/>
            <a:ext cx="164592" cy="0"/>
          </a:xfrm>
          <a:prstGeom prst="line">
            <a:avLst/>
          </a:prstGeom>
          <a:noFill/>
          <a:ln w="19050">
            <a:solidFill>
              <a:srgbClr val="065F46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7315200" y="4133088"/>
            <a:ext cx="1572768" cy="749808"/>
          </a:xfrm>
          <a:prstGeom prst="rect">
            <a:avLst/>
          </a:prstGeom>
          <a:solidFill>
            <a:srgbClr val="FFFFFF"/>
          </a:solidFill>
          <a:ln w="10160">
            <a:solidFill>
              <a:srgbClr val="065F46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351776" y="4169664"/>
            <a:ext cx="1499616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11827"/>
                </a:solidFill>
              </a:rPr>
              <a:t>Drift Detection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111827"/>
                </a:solidFill>
              </a:rPr>
              <a:t>(rising override rate = early warning)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Phased Rollout &amp; Key Risks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74320" y="822960"/>
            <a:ext cx="2834640" cy="3246120"/>
          </a:xfrm>
          <a:prstGeom prst="rect">
            <a:avLst/>
          </a:prstGeom>
          <a:solidFill>
            <a:srgbClr val="1F2937"/>
          </a:solidFill>
          <a:ln w="1905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274320" y="822960"/>
            <a:ext cx="2834640" cy="47548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859536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PHASE 1  ·  Shadow Mode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384048" y="1335024"/>
            <a:ext cx="26151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i="1" dirty="0">
                <a:solidFill>
                  <a:srgbClr val="028090"/>
                </a:solidFill>
              </a:rPr>
              <a:t>Weeks 1–8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84048" y="1627632"/>
            <a:ext cx="2615184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ADCFC"/>
                </a:solidFill>
              </a:rPr>
              <a:t>Single contract type, single project, single region</a:t>
            </a:r>
            <a:endParaRPr lang="en-US" sz="950" dirty="0"/>
          </a:p>
          <a:p>
            <a:pPr indent="0" marL="0">
              <a:lnSpc>
                <a:spcPct val="110000"/>
              </a:lnSpc>
              <a:buNone/>
            </a:pPr>
            <a:endParaRPr lang="en-US" sz="9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ADCFC"/>
                </a:solidFill>
              </a:rPr>
              <a:t>Full HITL — zero autonomy, all outputs reviewed</a:t>
            </a:r>
            <a:endParaRPr lang="en-US" sz="950" dirty="0"/>
          </a:p>
          <a:p>
            <a:pPr indent="0" marL="0">
              <a:lnSpc>
                <a:spcPct val="110000"/>
              </a:lnSpc>
              <a:buNone/>
            </a:pPr>
            <a:endParaRPr lang="en-US" sz="9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ADCFC"/>
                </a:solidFill>
              </a:rPr>
              <a:t>Establish baseline F1 and override rates</a:t>
            </a:r>
            <a:endParaRPr lang="en-US" sz="950" dirty="0"/>
          </a:p>
          <a:p>
            <a:pPr indent="0" marL="0">
              <a:lnSpc>
                <a:spcPct val="110000"/>
              </a:lnSpc>
              <a:buNone/>
            </a:pPr>
            <a:endParaRPr lang="en-US" sz="9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ADCFC"/>
                </a:solidFill>
              </a:rPr>
              <a:t>Validate HITL portal and redlining workflow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47472" y="3346704"/>
            <a:ext cx="2670048" cy="594360"/>
          </a:xfrm>
          <a:prstGeom prst="rect">
            <a:avLst/>
          </a:prstGeom>
          <a:solidFill>
            <a:srgbClr val="111827"/>
          </a:solidFill>
          <a:ln w="1016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02336" y="3383280"/>
            <a:ext cx="256032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028090"/>
                </a:solidFill>
              </a:rPr>
              <a:t>Gate: Extraction F1 &gt; 0.92 · ERP exact match &gt; 0.85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264408" y="822960"/>
            <a:ext cx="2834640" cy="3246120"/>
          </a:xfrm>
          <a:prstGeom prst="rect">
            <a:avLst/>
          </a:prstGeom>
          <a:solidFill>
            <a:srgbClr val="1F2937"/>
          </a:solidFill>
          <a:ln w="1905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64408" y="822960"/>
            <a:ext cx="2834640" cy="47548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55848" y="859536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PHASE 2  ·  Controlled Autonomy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374136" y="1335024"/>
            <a:ext cx="26151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i="1" dirty="0">
                <a:solidFill>
                  <a:srgbClr val="D97706"/>
                </a:solidFill>
              </a:rPr>
              <a:t>Weeks 9–20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374136" y="1627632"/>
            <a:ext cx="2615184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ADCFC"/>
                </a:solidFill>
              </a:rPr>
              <a:t>Expand to additional contract types and second region</a:t>
            </a:r>
            <a:endParaRPr lang="en-US" sz="950" dirty="0"/>
          </a:p>
          <a:p>
            <a:pPr indent="0" marL="0">
              <a:lnSpc>
                <a:spcPct val="110000"/>
              </a:lnSpc>
              <a:buNone/>
            </a:pPr>
            <a:endParaRPr lang="en-US" sz="9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ADCFC"/>
                </a:solidFill>
              </a:rPr>
              <a:t>Override monitoring active — threshold locked until 5% sustained</a:t>
            </a:r>
            <a:endParaRPr lang="en-US" sz="950" dirty="0"/>
          </a:p>
          <a:p>
            <a:pPr indent="0" marL="0">
              <a:lnSpc>
                <a:spcPct val="110000"/>
              </a:lnSpc>
              <a:buNone/>
            </a:pPr>
            <a:endParaRPr lang="en-US" sz="9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ADCFC"/>
                </a:solidFill>
              </a:rPr>
              <a:t>Change notice drafting live — legal sign-off obtained</a:t>
            </a:r>
            <a:endParaRPr lang="en-US" sz="950" dirty="0"/>
          </a:p>
          <a:p>
            <a:pPr indent="0" marL="0">
              <a:lnSpc>
                <a:spcPct val="110000"/>
              </a:lnSpc>
              <a:buNone/>
            </a:pPr>
            <a:endParaRPr lang="en-US" sz="9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ADCFC"/>
                </a:solidFill>
              </a:rPr>
              <a:t>PMIS polling and claim lifecycle validated end-to-end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337560" y="3346704"/>
            <a:ext cx="2670048" cy="594360"/>
          </a:xfrm>
          <a:prstGeom prst="rect">
            <a:avLst/>
          </a:prstGeom>
          <a:solidFill>
            <a:srgbClr val="111827"/>
          </a:solidFill>
          <a:ln w="10160">
            <a:solidFill>
              <a:srgbClr val="D9770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92424" y="3383280"/>
            <a:ext cx="256032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D97706"/>
                </a:solidFill>
              </a:rPr>
              <a:t>Gate: 30-day override rate &lt; 5% on Phase 1 contract type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6254496" y="822960"/>
            <a:ext cx="2834640" cy="3246120"/>
          </a:xfrm>
          <a:prstGeom prst="rect">
            <a:avLst/>
          </a:prstGeom>
          <a:solidFill>
            <a:srgbClr val="1F2937"/>
          </a:solidFill>
          <a:ln w="19050">
            <a:solidFill>
              <a:srgbClr val="065F4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254496" y="822960"/>
            <a:ext cx="2834640" cy="475488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45936" y="859536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PHASE 3  ·  Scaled Deployment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364224" y="1335024"/>
            <a:ext cx="26151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i="1" dirty="0">
                <a:solidFill>
                  <a:srgbClr val="065F46"/>
                </a:solidFill>
              </a:rPr>
              <a:t>Week 21+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364224" y="1627632"/>
            <a:ext cx="2615184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ADCFC"/>
                </a:solidFill>
              </a:rPr>
              <a:t>Progressive autonomy on qualifying document classes</a:t>
            </a:r>
            <a:endParaRPr lang="en-US" sz="950" dirty="0"/>
          </a:p>
          <a:p>
            <a:pPr indent="0" marL="0">
              <a:lnSpc>
                <a:spcPct val="110000"/>
              </a:lnSpc>
              <a:buNone/>
            </a:pPr>
            <a:endParaRPr lang="en-US" sz="9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ADCFC"/>
                </a:solidFill>
              </a:rPr>
              <a:t>Multi-region routing and data residency controls active</a:t>
            </a:r>
            <a:endParaRPr lang="en-US" sz="950" dirty="0"/>
          </a:p>
          <a:p>
            <a:pPr indent="0" marL="0">
              <a:lnSpc>
                <a:spcPct val="110000"/>
              </a:lnSpc>
              <a:buNone/>
            </a:pPr>
            <a:endParaRPr lang="en-US" sz="9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ADCFC"/>
                </a:solidFill>
              </a:rPr>
              <a:t>Feedback loop operational — corrections → model improvement</a:t>
            </a:r>
            <a:endParaRPr lang="en-US" sz="950" dirty="0"/>
          </a:p>
          <a:p>
            <a:pPr indent="0" marL="0">
              <a:lnSpc>
                <a:spcPct val="110000"/>
              </a:lnSpc>
              <a:buNone/>
            </a:pPr>
            <a:endParaRPr lang="en-US" sz="9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ADCFC"/>
                </a:solidFill>
              </a:rPr>
              <a:t>Circuit breaker thresholds tuned from production variance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327648" y="3346704"/>
            <a:ext cx="2670048" cy="594360"/>
          </a:xfrm>
          <a:prstGeom prst="rect">
            <a:avLst/>
          </a:prstGeom>
          <a:solidFill>
            <a:srgbClr val="111827"/>
          </a:solidFill>
          <a:ln w="10160">
            <a:solidFill>
              <a:srgbClr val="065F4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82512" y="3383280"/>
            <a:ext cx="256032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065F46"/>
                </a:solidFill>
              </a:rPr>
              <a:t>Gate: No degradation in override rate trend over 60 days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65760" y="4187952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ADCFC"/>
                </a:solidFill>
              </a:rPr>
              <a:t>KEY RISKS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74320" y="4462272"/>
            <a:ext cx="2057400" cy="566928"/>
          </a:xfrm>
          <a:prstGeom prst="rect">
            <a:avLst/>
          </a:prstGeom>
          <a:solidFill>
            <a:srgbClr val="1F2937"/>
          </a:solidFill>
          <a:ln w="10160">
            <a:solidFill>
              <a:srgbClr val="B91C1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7472" y="4498848"/>
            <a:ext cx="19202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ADCFC"/>
                </a:solidFill>
              </a:rPr>
              <a:t>PMIS API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ADCFC"/>
                </a:solidFill>
              </a:rPr>
              <a:t>Design file-based fallback from day one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2487168" y="4462272"/>
            <a:ext cx="2057400" cy="566928"/>
          </a:xfrm>
          <a:prstGeom prst="rect">
            <a:avLst/>
          </a:prstGeom>
          <a:solidFill>
            <a:srgbClr val="1F2937"/>
          </a:solidFill>
          <a:ln w="10160">
            <a:solidFill>
              <a:srgbClr val="B91C1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560320" y="4498848"/>
            <a:ext cx="19202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ADCFC"/>
                </a:solidFill>
              </a:rPr>
              <a:t>Legal sign-off on AI drafts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ADCFC"/>
                </a:solidFill>
              </a:rPr>
              <a:t>Involve legal in Phase 1 shadow review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700016" y="4462272"/>
            <a:ext cx="2057400" cy="566928"/>
          </a:xfrm>
          <a:prstGeom prst="rect">
            <a:avLst/>
          </a:prstGeom>
          <a:solidFill>
            <a:srgbClr val="1F2937"/>
          </a:solidFill>
          <a:ln w="10160">
            <a:solidFill>
              <a:srgbClr val="B91C1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73168" y="4498848"/>
            <a:ext cx="19202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ADCFC"/>
                </a:solidFill>
              </a:rPr>
              <a:t>Golden dataset quality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ADCFC"/>
                </a:solidFill>
              </a:rPr>
              <a:t>Domain expert audit before construction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6912864" y="4462272"/>
            <a:ext cx="2057400" cy="566928"/>
          </a:xfrm>
          <a:prstGeom prst="rect">
            <a:avLst/>
          </a:prstGeom>
          <a:solidFill>
            <a:srgbClr val="1F2937"/>
          </a:solidFill>
          <a:ln w="10160">
            <a:solidFill>
              <a:srgbClr val="B91C1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986016" y="4498848"/>
            <a:ext cx="19202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ADCFC"/>
                </a:solidFill>
              </a:rPr>
              <a:t>HITL bottleneck at scale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ADCFC"/>
                </a:solidFill>
              </a:rPr>
              <a:t>SLAs set against workforce, not compute capacity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AI-Enabled Commercial Change Management</dc:title>
  <dc:subject>PptxGenJS Presentation</dc:subject>
  <dc:creator>Solution Architect</dc:creator>
  <cp:lastModifiedBy>Solution Architect</cp:lastModifiedBy>
  <cp:revision>1</cp:revision>
  <dcterms:created xsi:type="dcterms:W3CDTF">2026-04-28T02:55:08Z</dcterms:created>
  <dcterms:modified xsi:type="dcterms:W3CDTF">2026-04-28T02:55:08Z</dcterms:modified>
</cp:coreProperties>
</file>