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17.png" ContentType="image/png"/>
  <Override PartName="/ppt/media/image8.png" ContentType="image/png"/>
  <Override PartName="/ppt/media/image12.png" ContentType="image/png"/>
  <Override PartName="/ppt/media/image3.png" ContentType="image/png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AEEBC39-40A9-41B0-B515-24B22BF93C3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7A3B24-4932-4E8F-A032-2E50962CF5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21F4EA-4A9B-4FEA-AA82-CF5E743EAE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31CE98-3E12-45DD-92F0-6EC864CA6A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5BC7BD-7D40-4C36-A45F-BC76A1C008D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E90E99-A1A3-4216-855E-55822ED64C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8DDD97-FD6F-4482-89FB-EBC9591F7F0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C2A5A2-DAEE-43EC-91EC-79C5DADCCB6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65760" y="3200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299" strike="noStrike">
                <a:solidFill>
                  <a:srgbClr val="b2e4ec"/>
                </a:solidFill>
                <a:latin typeface="Calibri"/>
              </a:rPr>
              <a:t>PRINCIPAL SOLUTION ARCHITECT  ·  OPERATIONAL AI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65760" y="731520"/>
            <a:ext cx="685764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AI-Enabled Commercial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Change Management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65760" y="2788920"/>
            <a:ext cx="6857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cadcfc"/>
                </a:solidFill>
                <a:latin typeface="Calibri"/>
              </a:rPr>
              <a:t>Automated tariff change detection · ERP integration · Governed autonomy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365760" y="3383280"/>
            <a:ext cx="2011320" cy="127980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" name="Image 0" descr="preencoded.png"/>
          <p:cNvPicPr/>
          <p:nvPr/>
        </p:nvPicPr>
        <p:blipFill>
          <a:blip r:embed="rId1"/>
          <a:stretch/>
        </p:blipFill>
        <p:spPr>
          <a:xfrm>
            <a:off x="1143000" y="345636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4" name="Text 5"/>
          <p:cNvSpPr/>
          <p:nvPr/>
        </p:nvSpPr>
        <p:spPr>
          <a:xfrm>
            <a:off x="411480" y="3913560"/>
            <a:ext cx="1919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Contract Ingestion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6"/>
          <p:cNvSpPr/>
          <p:nvPr/>
        </p:nvSpPr>
        <p:spPr>
          <a:xfrm>
            <a:off x="2578680" y="3383280"/>
            <a:ext cx="2011320" cy="127980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" name="Image 1" descr="preencoded.png"/>
          <p:cNvPicPr/>
          <p:nvPr/>
        </p:nvPicPr>
        <p:blipFill>
          <a:blip r:embed="rId2"/>
          <a:stretch/>
        </p:blipFill>
        <p:spPr>
          <a:xfrm>
            <a:off x="3355920" y="345636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7" name="Text 7"/>
          <p:cNvSpPr/>
          <p:nvPr/>
        </p:nvSpPr>
        <p:spPr>
          <a:xfrm>
            <a:off x="2624400" y="3913560"/>
            <a:ext cx="1919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AI Extraction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4791600" y="3383280"/>
            <a:ext cx="2011320" cy="127980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" name="Image 2" descr="preencoded.png"/>
          <p:cNvPicPr/>
          <p:nvPr/>
        </p:nvPicPr>
        <p:blipFill>
          <a:blip r:embed="rId3"/>
          <a:stretch/>
        </p:blipFill>
        <p:spPr>
          <a:xfrm>
            <a:off x="5568840" y="345636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20" name="Text 9"/>
          <p:cNvSpPr/>
          <p:nvPr/>
        </p:nvSpPr>
        <p:spPr>
          <a:xfrm>
            <a:off x="4837320" y="3913560"/>
            <a:ext cx="1919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Human Review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0"/>
          <p:cNvSpPr/>
          <p:nvPr/>
        </p:nvSpPr>
        <p:spPr>
          <a:xfrm>
            <a:off x="7004160" y="3383280"/>
            <a:ext cx="2011320" cy="127980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" name="Image 3" descr="preencoded.png"/>
          <p:cNvPicPr/>
          <p:nvPr/>
        </p:nvPicPr>
        <p:blipFill>
          <a:blip r:embed="rId4"/>
          <a:stretch/>
        </p:blipFill>
        <p:spPr>
          <a:xfrm>
            <a:off x="7781400" y="345636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23" name="Text 11"/>
          <p:cNvSpPr/>
          <p:nvPr/>
        </p:nvSpPr>
        <p:spPr>
          <a:xfrm>
            <a:off x="7049880" y="3913560"/>
            <a:ext cx="1919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ERP Integration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2"/>
          <p:cNvSpPr/>
          <p:nvPr/>
        </p:nvSpPr>
        <p:spPr>
          <a:xfrm>
            <a:off x="6858000" y="47548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</a:rPr>
              <a:t>April 2026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0"/>
          <p:cNvSpPr/>
          <p:nvPr/>
        </p:nvSpPr>
        <p:spPr>
          <a:xfrm>
            <a:off x="365760" y="1828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e2761"/>
                </a:solidFill>
                <a:latin typeface="Calibri"/>
                <a:ea typeface="Calibri"/>
              </a:rPr>
              <a:t>Solution Architecture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365760" y="68580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4a5568"/>
                </a:solidFill>
                <a:latin typeface="Calibri"/>
              </a:rPr>
              <a:t>End-to-end pipeline — from unstructured contract to governed ERP entry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2"/>
          <p:cNvSpPr/>
          <p:nvPr/>
        </p:nvSpPr>
        <p:spPr>
          <a:xfrm>
            <a:off x="228600" y="1143000"/>
            <a:ext cx="1416960" cy="1325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" name="Image 0" descr="preencoded.png"/>
          <p:cNvPicPr/>
          <p:nvPr/>
        </p:nvPicPr>
        <p:blipFill>
          <a:blip r:embed="rId1"/>
          <a:stretch/>
        </p:blipFill>
        <p:spPr>
          <a:xfrm>
            <a:off x="713160" y="1234440"/>
            <a:ext cx="438480" cy="438480"/>
          </a:xfrm>
          <a:prstGeom prst="rect">
            <a:avLst/>
          </a:prstGeom>
          <a:ln w="0">
            <a:noFill/>
          </a:ln>
        </p:spPr>
      </p:pic>
      <p:sp>
        <p:nvSpPr>
          <p:cNvPr id="29" name="Text 3"/>
          <p:cNvSpPr/>
          <p:nvPr/>
        </p:nvSpPr>
        <p:spPr>
          <a:xfrm>
            <a:off x="228600" y="1691640"/>
            <a:ext cx="1416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Ingest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228600" y="1984320"/>
            <a:ext cx="1416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Textract OCR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+ PII Detection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5"/>
          <p:cNvSpPr/>
          <p:nvPr/>
        </p:nvSpPr>
        <p:spPr>
          <a:xfrm>
            <a:off x="1645920" y="1805760"/>
            <a:ext cx="155160" cy="360"/>
          </a:xfrm>
          <a:prstGeom prst="line">
            <a:avLst/>
          </a:prstGeom>
          <a:ln w="190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1801440" y="1143000"/>
            <a:ext cx="1416960" cy="1325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3" name="Image 1" descr="preencoded.png"/>
          <p:cNvPicPr/>
          <p:nvPr/>
        </p:nvPicPr>
        <p:blipFill>
          <a:blip r:embed="rId2"/>
          <a:stretch/>
        </p:blipFill>
        <p:spPr>
          <a:xfrm>
            <a:off x="2286000" y="1234440"/>
            <a:ext cx="438480" cy="438480"/>
          </a:xfrm>
          <a:prstGeom prst="rect">
            <a:avLst/>
          </a:prstGeom>
          <a:ln w="0">
            <a:noFill/>
          </a:ln>
        </p:spPr>
      </p:pic>
      <p:sp>
        <p:nvSpPr>
          <p:cNvPr id="34" name="Text 7"/>
          <p:cNvSpPr/>
          <p:nvPr/>
        </p:nvSpPr>
        <p:spPr>
          <a:xfrm>
            <a:off x="1801440" y="1691640"/>
            <a:ext cx="1416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Extract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1801440" y="1984320"/>
            <a:ext cx="1416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Comprehend NER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Custom Entities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9"/>
          <p:cNvSpPr/>
          <p:nvPr/>
        </p:nvSpPr>
        <p:spPr>
          <a:xfrm>
            <a:off x="3218400" y="1805760"/>
            <a:ext cx="155520" cy="360"/>
          </a:xfrm>
          <a:prstGeom prst="line">
            <a:avLst/>
          </a:prstGeom>
          <a:ln w="190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3374280" y="1143000"/>
            <a:ext cx="1416960" cy="13255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8" name="Image 2" descr="preencoded.png"/>
          <p:cNvPicPr/>
          <p:nvPr/>
        </p:nvPicPr>
        <p:blipFill>
          <a:blip r:embed="rId3"/>
          <a:stretch/>
        </p:blipFill>
        <p:spPr>
          <a:xfrm>
            <a:off x="3858840" y="1234440"/>
            <a:ext cx="438480" cy="438480"/>
          </a:xfrm>
          <a:prstGeom prst="rect">
            <a:avLst/>
          </a:prstGeom>
          <a:ln w="0">
            <a:noFill/>
          </a:ln>
        </p:spPr>
      </p:pic>
      <p:sp>
        <p:nvSpPr>
          <p:cNvPr id="39" name="Text 11"/>
          <p:cNvSpPr/>
          <p:nvPr/>
        </p:nvSpPr>
        <p:spPr>
          <a:xfrm>
            <a:off x="3374280" y="1691640"/>
            <a:ext cx="1416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Infer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12"/>
          <p:cNvSpPr/>
          <p:nvPr/>
        </p:nvSpPr>
        <p:spPr>
          <a:xfrm>
            <a:off x="3374280" y="1984320"/>
            <a:ext cx="1416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Strands Agent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Lineage RAG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13"/>
          <p:cNvSpPr/>
          <p:nvPr/>
        </p:nvSpPr>
        <p:spPr>
          <a:xfrm>
            <a:off x="4791240" y="1805760"/>
            <a:ext cx="155520" cy="360"/>
          </a:xfrm>
          <a:prstGeom prst="line">
            <a:avLst/>
          </a:prstGeom>
          <a:ln w="190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4"/>
          <p:cNvSpPr/>
          <p:nvPr/>
        </p:nvSpPr>
        <p:spPr>
          <a:xfrm>
            <a:off x="4946760" y="1143000"/>
            <a:ext cx="1416960" cy="1325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" name="Image 3" descr="preencoded.png"/>
          <p:cNvPicPr/>
          <p:nvPr/>
        </p:nvPicPr>
        <p:blipFill>
          <a:blip r:embed="rId4"/>
          <a:stretch/>
        </p:blipFill>
        <p:spPr>
          <a:xfrm>
            <a:off x="5431680" y="1234440"/>
            <a:ext cx="438480" cy="438480"/>
          </a:xfrm>
          <a:prstGeom prst="rect">
            <a:avLst/>
          </a:prstGeom>
          <a:ln w="0">
            <a:noFill/>
          </a:ln>
        </p:spPr>
      </p:pic>
      <p:sp>
        <p:nvSpPr>
          <p:cNvPr id="44" name="Text 15"/>
          <p:cNvSpPr/>
          <p:nvPr/>
        </p:nvSpPr>
        <p:spPr>
          <a:xfrm>
            <a:off x="4946760" y="1691640"/>
            <a:ext cx="1416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Assess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16"/>
          <p:cNvSpPr/>
          <p:nvPr/>
        </p:nvSpPr>
        <p:spPr>
          <a:xfrm>
            <a:off x="4946760" y="1984320"/>
            <a:ext cx="1416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Cost + Schedule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Code Interpreter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17"/>
          <p:cNvSpPr/>
          <p:nvPr/>
        </p:nvSpPr>
        <p:spPr>
          <a:xfrm>
            <a:off x="6364080" y="1805760"/>
            <a:ext cx="155520" cy="360"/>
          </a:xfrm>
          <a:prstGeom prst="line">
            <a:avLst/>
          </a:prstGeom>
          <a:ln w="190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18"/>
          <p:cNvSpPr/>
          <p:nvPr/>
        </p:nvSpPr>
        <p:spPr>
          <a:xfrm>
            <a:off x="6519600" y="1143000"/>
            <a:ext cx="1416960" cy="132552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" name="Image 4" descr="preencoded.png"/>
          <p:cNvPicPr/>
          <p:nvPr/>
        </p:nvPicPr>
        <p:blipFill>
          <a:blip r:embed="rId5"/>
          <a:stretch/>
        </p:blipFill>
        <p:spPr>
          <a:xfrm>
            <a:off x="7004160" y="1234440"/>
            <a:ext cx="438480" cy="438480"/>
          </a:xfrm>
          <a:prstGeom prst="rect">
            <a:avLst/>
          </a:prstGeom>
          <a:ln w="0">
            <a:noFill/>
          </a:ln>
        </p:spPr>
      </p:pic>
      <p:sp>
        <p:nvSpPr>
          <p:cNvPr id="49" name="Text 19"/>
          <p:cNvSpPr/>
          <p:nvPr/>
        </p:nvSpPr>
        <p:spPr>
          <a:xfrm>
            <a:off x="6519600" y="1691640"/>
            <a:ext cx="1416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20"/>
          <p:cNvSpPr/>
          <p:nvPr/>
        </p:nvSpPr>
        <p:spPr>
          <a:xfrm>
            <a:off x="6519600" y="1984320"/>
            <a:ext cx="1416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ERP Push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+ Change Notice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21"/>
          <p:cNvSpPr/>
          <p:nvPr/>
        </p:nvSpPr>
        <p:spPr>
          <a:xfrm>
            <a:off x="228600" y="2697480"/>
            <a:ext cx="8595000" cy="50256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" name="Image 5" descr="preencoded.png"/>
          <p:cNvPicPr/>
          <p:nvPr/>
        </p:nvPicPr>
        <p:blipFill>
          <a:blip r:embed="rId6"/>
          <a:stretch/>
        </p:blipFill>
        <p:spPr>
          <a:xfrm>
            <a:off x="320040" y="2761560"/>
            <a:ext cx="319680" cy="319680"/>
          </a:xfrm>
          <a:prstGeom prst="rect">
            <a:avLst/>
          </a:prstGeom>
          <a:ln w="0">
            <a:noFill/>
          </a:ln>
        </p:spPr>
      </p:pic>
      <p:sp>
        <p:nvSpPr>
          <p:cNvPr id="53" name="Text 22"/>
          <p:cNvSpPr/>
          <p:nvPr/>
        </p:nvSpPr>
        <p:spPr>
          <a:xfrm>
            <a:off x="713160" y="2743200"/>
            <a:ext cx="7954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97706"/>
                </a:solidFill>
                <a:latin typeface="Calibri"/>
              </a:rPr>
              <a:t>Human-in-the-Loop touchpoints: (1) Extraction review  ·  (2) ERP push approval  ·  (3) Change notice redline review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23"/>
          <p:cNvSpPr/>
          <p:nvPr/>
        </p:nvSpPr>
        <p:spPr>
          <a:xfrm>
            <a:off x="228600" y="3364920"/>
            <a:ext cx="8595000" cy="594000"/>
          </a:xfrm>
          <a:prstGeom prst="rect">
            <a:avLst/>
          </a:prstGeom>
          <a:solidFill>
            <a:srgbClr val="ede9fe"/>
          </a:solidFill>
          <a:ln w="12700">
            <a:solidFill>
              <a:srgbClr val="5b21b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Image 6" descr="preencoded.png"/>
          <p:cNvPicPr/>
          <p:nvPr/>
        </p:nvPicPr>
        <p:blipFill>
          <a:blip r:embed="rId7"/>
          <a:stretch/>
        </p:blipFill>
        <p:spPr>
          <a:xfrm>
            <a:off x="320040" y="347472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56" name="Text 24"/>
          <p:cNvSpPr/>
          <p:nvPr/>
        </p:nvSpPr>
        <p:spPr>
          <a:xfrm>
            <a:off x="749880" y="3456360"/>
            <a:ext cx="79549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11827"/>
                </a:solidFill>
                <a:latin typeface="Calibri"/>
              </a:rPr>
              <a:t>Schema Enforcement  —  Strict prompting → Pydantic validation → retry → HITL. LLMs never touch financial math.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5"/>
          <p:cNvSpPr/>
          <p:nvPr/>
        </p:nvSpPr>
        <p:spPr>
          <a:xfrm>
            <a:off x="228600" y="4078080"/>
            <a:ext cx="8595000" cy="594000"/>
          </a:xfrm>
          <a:prstGeom prst="rect">
            <a:avLst/>
          </a:prstGeom>
          <a:solidFill>
            <a:srgbClr val="b2e4ec"/>
          </a:solidFill>
          <a:ln w="1270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Image 7" descr="preencoded.png"/>
          <p:cNvPicPr/>
          <p:nvPr/>
        </p:nvPicPr>
        <p:blipFill>
          <a:blip r:embed="rId8"/>
          <a:stretch/>
        </p:blipFill>
        <p:spPr>
          <a:xfrm>
            <a:off x="320040" y="418788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59" name="Text 26"/>
          <p:cNvSpPr/>
          <p:nvPr/>
        </p:nvSpPr>
        <p:spPr>
          <a:xfrm>
            <a:off x="749880" y="4169520"/>
            <a:ext cx="79549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11827"/>
                </a:solidFill>
                <a:latin typeface="Calibri"/>
              </a:rPr>
              <a:t>Claim Lifecycle Tracker  —  Step Functions state machine observes PMIS via EventBridge polling. Eventually consistent. PMIS is system of record.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365760" y="1828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e2761"/>
                </a:solidFill>
                <a:latin typeface="Calibri"/>
                <a:ea typeface="Calibri"/>
              </a:rPr>
              <a:t>AI Usage &amp; Managed Autonomy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274320" y="822960"/>
            <a:ext cx="4114440" cy="1828440"/>
          </a:xfrm>
          <a:prstGeom prst="rect">
            <a:avLst/>
          </a:prstGeom>
          <a:solidFill>
            <a:srgbClr val="d1fae5"/>
          </a:solidFill>
          <a:ln w="19050">
            <a:solidFill>
              <a:srgbClr val="065f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Image 0" descr="preencoded.png"/>
          <p:cNvPicPr/>
          <p:nvPr/>
        </p:nvPicPr>
        <p:blipFill>
          <a:blip r:embed="rId1"/>
          <a:stretch/>
        </p:blipFill>
        <p:spPr>
          <a:xfrm>
            <a:off x="384120" y="91440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63" name="Text 2"/>
          <p:cNvSpPr/>
          <p:nvPr/>
        </p:nvSpPr>
        <p:spPr>
          <a:xfrm>
            <a:off x="804600" y="896040"/>
            <a:ext cx="3474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65f46"/>
                </a:solidFill>
                <a:latin typeface="Calibri"/>
              </a:rPr>
              <a:t>AI USED FOR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384120" y="1280160"/>
            <a:ext cx="384012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11827"/>
                </a:solidFill>
                <a:latin typeface="Calibri"/>
              </a:rPr>
              <a:t>Unstructured text extraction (Textract + Comprehend NER)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11827"/>
                </a:solidFill>
                <a:latin typeface="Calibri"/>
              </a:rPr>
              <a:t>Lineage inference from historical context (Strands + RAG)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11827"/>
                </a:solidFill>
                <a:latin typeface="Calibri"/>
              </a:rPr>
              <a:t>Change notice draft population (template agent)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11827"/>
                </a:solidFill>
                <a:latin typeface="Calibri"/>
              </a:rPr>
              <a:t>Anomaly detection &amp; classification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4"/>
          <p:cNvSpPr/>
          <p:nvPr/>
        </p:nvSpPr>
        <p:spPr>
          <a:xfrm>
            <a:off x="274320" y="2834640"/>
            <a:ext cx="4114440" cy="1828440"/>
          </a:xfrm>
          <a:prstGeom prst="rect">
            <a:avLst/>
          </a:prstGeom>
          <a:solidFill>
            <a:srgbClr val="fee2e2"/>
          </a:solidFill>
          <a:ln w="19050">
            <a:solidFill>
              <a:srgbClr val="b91c1c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" name="Image 1" descr="preencoded.png"/>
          <p:cNvPicPr/>
          <p:nvPr/>
        </p:nvPicPr>
        <p:blipFill>
          <a:blip r:embed="rId2"/>
          <a:stretch/>
        </p:blipFill>
        <p:spPr>
          <a:xfrm>
            <a:off x="384120" y="292608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67" name="Text 5"/>
          <p:cNvSpPr/>
          <p:nvPr/>
        </p:nvSpPr>
        <p:spPr>
          <a:xfrm>
            <a:off x="804600" y="2907720"/>
            <a:ext cx="3474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b91c1c"/>
                </a:solidFill>
                <a:latin typeface="Calibri"/>
              </a:rPr>
              <a:t>AI NOT USED FOR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384120" y="3291840"/>
            <a:ext cx="384012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11827"/>
                </a:solidFill>
                <a:latin typeface="Calibri"/>
              </a:rPr>
              <a:t>Financial arithmetic — Python sandbox only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11827"/>
                </a:solidFill>
                <a:latin typeface="Calibri"/>
              </a:rPr>
              <a:t>Template selection — deterministic PMIS lookup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11827"/>
                </a:solidFill>
                <a:latin typeface="Calibri"/>
              </a:rPr>
              <a:t>Data residency routing — inherited from project record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11827"/>
                </a:solidFill>
                <a:latin typeface="Calibri"/>
              </a:rPr>
              <a:t>Final ERP push — requires human approval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7"/>
          <p:cNvSpPr/>
          <p:nvPr/>
        </p:nvSpPr>
        <p:spPr>
          <a:xfrm>
            <a:off x="4663440" y="822960"/>
            <a:ext cx="4297320" cy="38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8"/>
          <p:cNvSpPr/>
          <p:nvPr/>
        </p:nvSpPr>
        <p:spPr>
          <a:xfrm>
            <a:off x="4754880" y="91440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199" strike="noStrike">
                <a:solidFill>
                  <a:srgbClr val="1e2761"/>
                </a:solidFill>
                <a:latin typeface="Calibri"/>
              </a:rPr>
              <a:t>AUTONOMY PROGRESSION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9"/>
          <p:cNvSpPr/>
          <p:nvPr/>
        </p:nvSpPr>
        <p:spPr>
          <a:xfrm>
            <a:off x="4754880" y="1371600"/>
            <a:ext cx="91080" cy="6580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10"/>
          <p:cNvSpPr/>
          <p:nvPr/>
        </p:nvSpPr>
        <p:spPr>
          <a:xfrm>
            <a:off x="4919400" y="1371600"/>
            <a:ext cx="1005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b91c1c"/>
                </a:solidFill>
                <a:latin typeface="Calibri"/>
              </a:rPr>
              <a:t>Phase 1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11"/>
          <p:cNvSpPr/>
          <p:nvPr/>
        </p:nvSpPr>
        <p:spPr>
          <a:xfrm>
            <a:off x="4919400" y="162756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11827"/>
                </a:solidFill>
                <a:latin typeface="Calibri"/>
              </a:rPr>
              <a:t>100% HITL Shadow Mode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12"/>
          <p:cNvSpPr/>
          <p:nvPr/>
        </p:nvSpPr>
        <p:spPr>
          <a:xfrm>
            <a:off x="4919400" y="182880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5568"/>
                </a:solidFill>
                <a:latin typeface="Calibri"/>
              </a:rPr>
              <a:t>Zero autonomy. All outputs reviewed.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13"/>
          <p:cNvSpPr/>
          <p:nvPr/>
        </p:nvSpPr>
        <p:spPr>
          <a:xfrm>
            <a:off x="4754880" y="2176200"/>
            <a:ext cx="91080" cy="658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14"/>
          <p:cNvSpPr/>
          <p:nvPr/>
        </p:nvSpPr>
        <p:spPr>
          <a:xfrm>
            <a:off x="4919400" y="2176200"/>
            <a:ext cx="1005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97706"/>
                </a:solidFill>
                <a:latin typeface="Calibri"/>
              </a:rPr>
              <a:t>Phase 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15"/>
          <p:cNvSpPr/>
          <p:nvPr/>
        </p:nvSpPr>
        <p:spPr>
          <a:xfrm>
            <a:off x="4919400" y="243216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11827"/>
                </a:solidFill>
                <a:latin typeface="Calibri"/>
              </a:rPr>
              <a:t>Metric Tracking Active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16"/>
          <p:cNvSpPr/>
          <p:nvPr/>
        </p:nvSpPr>
        <p:spPr>
          <a:xfrm>
            <a:off x="4919400" y="263340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5568"/>
                </a:solidFill>
                <a:latin typeface="Calibri"/>
              </a:rPr>
              <a:t>Override rate monitored per pipeline stage.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17"/>
          <p:cNvSpPr/>
          <p:nvPr/>
        </p:nvSpPr>
        <p:spPr>
          <a:xfrm>
            <a:off x="4754880" y="2980800"/>
            <a:ext cx="91080" cy="658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18"/>
          <p:cNvSpPr/>
          <p:nvPr/>
        </p:nvSpPr>
        <p:spPr>
          <a:xfrm>
            <a:off x="4919400" y="2980800"/>
            <a:ext cx="1005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28090"/>
                </a:solidFill>
                <a:latin typeface="Calibri"/>
              </a:rPr>
              <a:t>Phase 3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9"/>
          <p:cNvSpPr/>
          <p:nvPr/>
        </p:nvSpPr>
        <p:spPr>
          <a:xfrm>
            <a:off x="4919400" y="323712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11827"/>
                </a:solidFill>
                <a:latin typeface="Calibri"/>
              </a:rPr>
              <a:t>Threshold Triggered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20"/>
          <p:cNvSpPr/>
          <p:nvPr/>
        </p:nvSpPr>
        <p:spPr>
          <a:xfrm>
            <a:off x="4919400" y="343800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5568"/>
                </a:solidFill>
                <a:latin typeface="Calibri"/>
              </a:rPr>
              <a:t>Override rate &lt; 5% sustained 30 days → autonomy gate opens.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1"/>
          <p:cNvSpPr/>
          <p:nvPr/>
        </p:nvSpPr>
        <p:spPr>
          <a:xfrm>
            <a:off x="4754880" y="3785760"/>
            <a:ext cx="91080" cy="65808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4919400" y="3785760"/>
            <a:ext cx="1005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65f46"/>
                </a:solidFill>
                <a:latin typeface="Calibri"/>
              </a:rPr>
              <a:t>Phase 4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23"/>
          <p:cNvSpPr/>
          <p:nvPr/>
        </p:nvSpPr>
        <p:spPr>
          <a:xfrm>
            <a:off x="4919400" y="404172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11827"/>
                </a:solidFill>
                <a:latin typeface="Calibri"/>
              </a:rPr>
              <a:t>Selective Autonomy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24"/>
          <p:cNvSpPr/>
          <p:nvPr/>
        </p:nvSpPr>
        <p:spPr>
          <a:xfrm>
            <a:off x="4919400" y="424296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5568"/>
                </a:solidFill>
                <a:latin typeface="Calibri"/>
              </a:rPr>
              <a:t>High-confidence classes auto-processed. Circuit breaker active.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25"/>
          <p:cNvSpPr/>
          <p:nvPr/>
        </p:nvSpPr>
        <p:spPr>
          <a:xfrm>
            <a:off x="274320" y="4663440"/>
            <a:ext cx="8686440" cy="3470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26"/>
          <p:cNvSpPr/>
          <p:nvPr/>
        </p:nvSpPr>
        <p:spPr>
          <a:xfrm>
            <a:off x="411480" y="4690800"/>
            <a:ext cx="84121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97706"/>
                </a:solidFill>
                <a:latin typeface="Calibri"/>
              </a:rPr>
              <a:t>Circuit Breaker: If override rate spikes above 5% in production, system automatically returns to 100% HITL and alerts on-call.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365760" y="1828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e2761"/>
                </a:solidFill>
                <a:latin typeface="Calibri"/>
                <a:ea typeface="Calibri"/>
              </a:rPr>
              <a:t>Integration Strategy &amp; Data Flow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365760" y="74988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6b7280"/>
                </a:solidFill>
                <a:latin typeface="Calibri"/>
              </a:rPr>
              <a:t>DATA PAYLOAD TRANSFORMATION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2"/>
          <p:cNvSpPr/>
          <p:nvPr/>
        </p:nvSpPr>
        <p:spPr>
          <a:xfrm>
            <a:off x="274320" y="1024200"/>
            <a:ext cx="1371240" cy="776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274320" y="10972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Binary PDF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4"/>
          <p:cNvSpPr/>
          <p:nvPr/>
        </p:nvSpPr>
        <p:spPr>
          <a:xfrm>
            <a:off x="274320" y="1426320"/>
            <a:ext cx="1371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Unstructured input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5"/>
          <p:cNvSpPr/>
          <p:nvPr/>
        </p:nvSpPr>
        <p:spPr>
          <a:xfrm>
            <a:off x="1645920" y="1412640"/>
            <a:ext cx="109440" cy="360"/>
          </a:xfrm>
          <a:prstGeom prst="line">
            <a:avLst/>
          </a:prstGeom>
          <a:ln w="190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6"/>
          <p:cNvSpPr/>
          <p:nvPr/>
        </p:nvSpPr>
        <p:spPr>
          <a:xfrm>
            <a:off x="1755720" y="1024200"/>
            <a:ext cx="1371240" cy="776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1755720" y="10972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Textract JSON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8"/>
          <p:cNvSpPr/>
          <p:nvPr/>
        </p:nvSpPr>
        <p:spPr>
          <a:xfrm>
            <a:off x="1755720" y="1426320"/>
            <a:ext cx="1371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Blocks + bounding boxes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9"/>
          <p:cNvSpPr/>
          <p:nvPr/>
        </p:nvSpPr>
        <p:spPr>
          <a:xfrm>
            <a:off x="3126960" y="1412640"/>
            <a:ext cx="109800" cy="360"/>
          </a:xfrm>
          <a:prstGeom prst="line">
            <a:avLst/>
          </a:prstGeom>
          <a:ln w="190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0"/>
          <p:cNvSpPr/>
          <p:nvPr/>
        </p:nvSpPr>
        <p:spPr>
          <a:xfrm>
            <a:off x="3237120" y="1024200"/>
            <a:ext cx="1371240" cy="776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11"/>
          <p:cNvSpPr/>
          <p:nvPr/>
        </p:nvSpPr>
        <p:spPr>
          <a:xfrm>
            <a:off x="3237120" y="10972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+ PII Tags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12"/>
          <p:cNvSpPr/>
          <p:nvPr/>
        </p:nvSpPr>
        <p:spPr>
          <a:xfrm>
            <a:off x="3237120" y="1426320"/>
            <a:ext cx="1371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Redacted from LLM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13"/>
          <p:cNvSpPr/>
          <p:nvPr/>
        </p:nvSpPr>
        <p:spPr>
          <a:xfrm>
            <a:off x="4608360" y="1412640"/>
            <a:ext cx="109800" cy="360"/>
          </a:xfrm>
          <a:prstGeom prst="line">
            <a:avLst/>
          </a:prstGeom>
          <a:ln w="190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14"/>
          <p:cNvSpPr/>
          <p:nvPr/>
        </p:nvSpPr>
        <p:spPr>
          <a:xfrm>
            <a:off x="4718160" y="1024200"/>
            <a:ext cx="1371240" cy="776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15"/>
          <p:cNvSpPr/>
          <p:nvPr/>
        </p:nvSpPr>
        <p:spPr>
          <a:xfrm>
            <a:off x="4718160" y="10972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+ NER Entities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16"/>
          <p:cNvSpPr/>
          <p:nvPr/>
        </p:nvSpPr>
        <p:spPr>
          <a:xfrm>
            <a:off x="4718160" y="1426320"/>
            <a:ext cx="1371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Vendor, ID, clauses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17"/>
          <p:cNvSpPr/>
          <p:nvPr/>
        </p:nvSpPr>
        <p:spPr>
          <a:xfrm>
            <a:off x="6089760" y="1412640"/>
            <a:ext cx="109800" cy="360"/>
          </a:xfrm>
          <a:prstGeom prst="line">
            <a:avLst/>
          </a:prstGeom>
          <a:ln w="190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18"/>
          <p:cNvSpPr/>
          <p:nvPr/>
        </p:nvSpPr>
        <p:spPr>
          <a:xfrm>
            <a:off x="6199560" y="1024200"/>
            <a:ext cx="1371240" cy="776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19"/>
          <p:cNvSpPr/>
          <p:nvPr/>
        </p:nvSpPr>
        <p:spPr>
          <a:xfrm>
            <a:off x="6199560" y="10972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+ Lineage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20"/>
          <p:cNvSpPr/>
          <p:nvPr/>
        </p:nvSpPr>
        <p:spPr>
          <a:xfrm>
            <a:off x="6199560" y="1426320"/>
            <a:ext cx="1371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Inferred project link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21"/>
          <p:cNvSpPr/>
          <p:nvPr/>
        </p:nvSpPr>
        <p:spPr>
          <a:xfrm>
            <a:off x="7571160" y="1412640"/>
            <a:ext cx="109800" cy="360"/>
          </a:xfrm>
          <a:prstGeom prst="line">
            <a:avLst/>
          </a:prstGeom>
          <a:ln w="190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22"/>
          <p:cNvSpPr/>
          <p:nvPr/>
        </p:nvSpPr>
        <p:spPr>
          <a:xfrm>
            <a:off x="7680960" y="1024200"/>
            <a:ext cx="1371240" cy="77688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23"/>
          <p:cNvSpPr/>
          <p:nvPr/>
        </p:nvSpPr>
        <p:spPr>
          <a:xfrm>
            <a:off x="7680960" y="10972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ERP Schema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24"/>
          <p:cNvSpPr/>
          <p:nvPr/>
        </p:nvSpPr>
        <p:spPr>
          <a:xfrm>
            <a:off x="7680960" y="1426320"/>
            <a:ext cx="1371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Strict typed payload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25"/>
          <p:cNvSpPr/>
          <p:nvPr/>
        </p:nvSpPr>
        <p:spPr>
          <a:xfrm>
            <a:off x="274320" y="1993320"/>
            <a:ext cx="2834280" cy="1919880"/>
          </a:xfrm>
          <a:prstGeom prst="rect">
            <a:avLst/>
          </a:prstGeom>
          <a:solidFill>
            <a:srgbClr val="b2e4ec"/>
          </a:solidFill>
          <a:ln w="1524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" name="Image 0" descr="preencoded.png"/>
          <p:cNvPicPr/>
          <p:nvPr/>
        </p:nvPicPr>
        <p:blipFill>
          <a:blip r:embed="rId1"/>
          <a:stretch/>
        </p:blipFill>
        <p:spPr>
          <a:xfrm>
            <a:off x="384120" y="206640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116" name="Text 26"/>
          <p:cNvSpPr/>
          <p:nvPr/>
        </p:nvSpPr>
        <p:spPr>
          <a:xfrm>
            <a:off x="804600" y="2048400"/>
            <a:ext cx="2212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28090"/>
                </a:solidFill>
                <a:latin typeface="Calibri"/>
              </a:rPr>
              <a:t>ERP Integration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27"/>
          <p:cNvSpPr/>
          <p:nvPr/>
        </p:nvSpPr>
        <p:spPr>
          <a:xfrm>
            <a:off x="384120" y="2432160"/>
            <a:ext cx="26330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11827"/>
                </a:solidFill>
                <a:latin typeface="Calibri"/>
              </a:rPr>
              <a:t>Modern: MCP server via AgentCore Gateway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11827"/>
                </a:solidFill>
                <a:latin typeface="Calibri"/>
              </a:rPr>
              <a:t>Legacy: Scheduled batch + file generation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11827"/>
                </a:solidFill>
                <a:latin typeface="Calibri"/>
              </a:rPr>
              <a:t>Fallback: Staging tables queue payloads when ERP is down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28"/>
          <p:cNvSpPr/>
          <p:nvPr/>
        </p:nvSpPr>
        <p:spPr>
          <a:xfrm>
            <a:off x="3264480" y="1993320"/>
            <a:ext cx="2834280" cy="1919880"/>
          </a:xfrm>
          <a:prstGeom prst="rect">
            <a:avLst/>
          </a:prstGeom>
          <a:solidFill>
            <a:srgbClr val="ede9fe"/>
          </a:solidFill>
          <a:ln w="15240">
            <a:solidFill>
              <a:srgbClr val="5b21b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Image 1" descr="preencoded.png"/>
          <p:cNvPicPr/>
          <p:nvPr/>
        </p:nvPicPr>
        <p:blipFill>
          <a:blip r:embed="rId2"/>
          <a:stretch/>
        </p:blipFill>
        <p:spPr>
          <a:xfrm>
            <a:off x="3374280" y="206640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120" name="Text 29"/>
          <p:cNvSpPr/>
          <p:nvPr/>
        </p:nvSpPr>
        <p:spPr>
          <a:xfrm>
            <a:off x="3794760" y="2048400"/>
            <a:ext cx="2212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b21b6"/>
                </a:solidFill>
                <a:latin typeface="Calibri"/>
              </a:rPr>
              <a:t>PMIS Integration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3374280" y="2432160"/>
            <a:ext cx="26330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11827"/>
                </a:solidFill>
                <a:latin typeface="Calibri"/>
              </a:rPr>
              <a:t>Primavera P6 / MS Project via API or XER file export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11827"/>
                </a:solidFill>
                <a:latin typeface="Calibri"/>
              </a:rPr>
              <a:t>EventBridge polls claim state idempotently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11827"/>
                </a:solidFill>
                <a:latin typeface="Calibri"/>
              </a:rPr>
              <a:t>PMIS is system of record — Step Functions is observer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31"/>
          <p:cNvSpPr/>
          <p:nvPr/>
        </p:nvSpPr>
        <p:spPr>
          <a:xfrm>
            <a:off x="6254640" y="1993320"/>
            <a:ext cx="2834280" cy="1919880"/>
          </a:xfrm>
          <a:prstGeom prst="rect">
            <a:avLst/>
          </a:prstGeom>
          <a:solidFill>
            <a:srgbClr val="fef3c7"/>
          </a:solidFill>
          <a:ln w="15240">
            <a:solidFill>
              <a:srgbClr val="d9770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" name="Image 2" descr="preencoded.png"/>
          <p:cNvPicPr/>
          <p:nvPr/>
        </p:nvPicPr>
        <p:blipFill>
          <a:blip r:embed="rId3"/>
          <a:stretch/>
        </p:blipFill>
        <p:spPr>
          <a:xfrm>
            <a:off x="6364080" y="206640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124" name="Text 32"/>
          <p:cNvSpPr/>
          <p:nvPr/>
        </p:nvSpPr>
        <p:spPr>
          <a:xfrm>
            <a:off x="6784920" y="2048400"/>
            <a:ext cx="2212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d97706"/>
                </a:solidFill>
                <a:latin typeface="Calibri"/>
              </a:rPr>
              <a:t>Document Repository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33"/>
          <p:cNvSpPr/>
          <p:nvPr/>
        </p:nvSpPr>
        <p:spPr>
          <a:xfrm>
            <a:off x="6364080" y="2432160"/>
            <a:ext cx="26330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11827"/>
                </a:solidFill>
                <a:latin typeface="Calibri"/>
              </a:rPr>
              <a:t>Templates retrieved from S3 / ProjectWise / SharePoint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11827"/>
                </a:solidFill>
                <a:latin typeface="Calibri"/>
              </a:rPr>
              <a:t>Selection is deterministic lookup — not semantic search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11827"/>
                </a:solidFill>
                <a:latin typeface="Calibri"/>
              </a:rPr>
              <a:t>Approved notices written back to repo after HITL sign-off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34"/>
          <p:cNvSpPr/>
          <p:nvPr/>
        </p:nvSpPr>
        <p:spPr>
          <a:xfrm>
            <a:off x="365760" y="400500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6b7280"/>
                </a:solidFill>
                <a:latin typeface="Calibri"/>
              </a:rPr>
              <a:t>FAILURE MODES &amp; MITIGATIONS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35"/>
          <p:cNvSpPr/>
          <p:nvPr/>
        </p:nvSpPr>
        <p:spPr>
          <a:xfrm>
            <a:off x="274320" y="4279320"/>
            <a:ext cx="8595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5568"/>
                </a:solidFill>
                <a:latin typeface="Calibri"/>
              </a:rPr>
              <a:t>API Throttling → SQS exponential backoff   ·   ERP Down → Staging table queue   ·   Hallucination Spike → Circuit breaker to 100% HITL   ·   PMIS Downtime → Next poll cycle catches up (idempotent)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 0"/>
          <p:cNvSpPr/>
          <p:nvPr/>
        </p:nvSpPr>
        <p:spPr>
          <a:xfrm>
            <a:off x="365760" y="1828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Governance, Security &amp; Observability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365760" y="68580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cadcfc"/>
                </a:solidFill>
                <a:latin typeface="Calibri"/>
              </a:rPr>
              <a:t>Three distinct governance layers — data, action, and audit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2"/>
          <p:cNvSpPr/>
          <p:nvPr/>
        </p:nvSpPr>
        <p:spPr>
          <a:xfrm>
            <a:off x="274320" y="1097280"/>
            <a:ext cx="2834280" cy="3474360"/>
          </a:xfrm>
          <a:prstGeom prst="rect">
            <a:avLst/>
          </a:prstGeom>
          <a:solidFill>
            <a:srgbClr val="0d2b30"/>
          </a:solidFill>
          <a:ln w="1905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Shape 3"/>
          <p:cNvSpPr/>
          <p:nvPr/>
        </p:nvSpPr>
        <p:spPr>
          <a:xfrm>
            <a:off x="274320" y="1097280"/>
            <a:ext cx="2834280" cy="456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4"/>
          <p:cNvSpPr/>
          <p:nvPr/>
        </p:nvSpPr>
        <p:spPr>
          <a:xfrm>
            <a:off x="365760" y="113400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01  Data Governance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384120" y="1664280"/>
            <a:ext cx="26146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</a:rPr>
              <a:t>Residency: Inherited from PMIS project record at upload — AI never determines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</a:rPr>
              <a:t>PII: Comprehend PII pass at ingestion — redacted from LLM payloads; role-gated at UI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</a:rPr>
              <a:t>Encryption: KMS at rest, TLS 1.2+ in transit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6"/>
          <p:cNvSpPr/>
          <p:nvPr/>
        </p:nvSpPr>
        <p:spPr>
          <a:xfrm>
            <a:off x="3264480" y="1097280"/>
            <a:ext cx="2834280" cy="3474360"/>
          </a:xfrm>
          <a:prstGeom prst="rect">
            <a:avLst/>
          </a:prstGeom>
          <a:solidFill>
            <a:srgbClr val="2b1f0a"/>
          </a:solidFill>
          <a:ln w="19050">
            <a:solidFill>
              <a:srgbClr val="d9770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Shape 7"/>
          <p:cNvSpPr/>
          <p:nvPr/>
        </p:nvSpPr>
        <p:spPr>
          <a:xfrm>
            <a:off x="3264480" y="1097280"/>
            <a:ext cx="2834280" cy="456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3355920" y="113400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02  Action Governance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9"/>
          <p:cNvSpPr/>
          <p:nvPr/>
        </p:nvSpPr>
        <p:spPr>
          <a:xfrm>
            <a:off x="3374280" y="1664280"/>
            <a:ext cx="26146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</a:rPr>
              <a:t>RBAC: Tier 1 Analysts (extraction corrections) · Tier 2 Managers (ERP push approval)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</a:rPr>
              <a:t>Threshold escalation: % of contract value + floor absolute amount — from PMIS record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</a:rPr>
              <a:t>Schedule equivalent: Float consumption % of critical path triggers same escalation logic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10"/>
          <p:cNvSpPr/>
          <p:nvPr/>
        </p:nvSpPr>
        <p:spPr>
          <a:xfrm>
            <a:off x="6254640" y="1097280"/>
            <a:ext cx="2834280" cy="3474360"/>
          </a:xfrm>
          <a:prstGeom prst="rect">
            <a:avLst/>
          </a:prstGeom>
          <a:solidFill>
            <a:srgbClr val="1a0f2b"/>
          </a:solidFill>
          <a:ln w="19050">
            <a:solidFill>
              <a:srgbClr val="5b21b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Shape 11"/>
          <p:cNvSpPr/>
          <p:nvPr/>
        </p:nvSpPr>
        <p:spPr>
          <a:xfrm>
            <a:off x="6254640" y="1097280"/>
            <a:ext cx="2834280" cy="45684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6346080" y="113400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03  Audit Governance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13"/>
          <p:cNvSpPr/>
          <p:nvPr/>
        </p:nvSpPr>
        <p:spPr>
          <a:xfrm>
            <a:off x="6364080" y="1664280"/>
            <a:ext cx="26146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</a:rPr>
              <a:t>CloudTrail: API-level action log for all agent tool calls and ERP mutations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</a:rPr>
              <a:t>Linege tracking: Text blocks → Comprehend → agent decision → Human approval tracked in AWS Quantum Ledger database or S3 Object locked storage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</a:rPr>
              <a:t>S3 Object Lock (WORM): Immutable audit record per document — AI output vs human decision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</a:rPr>
              <a:t>Hash chaining: Tamper-evident records — legally admissible in arbitration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Shape 14"/>
          <p:cNvSpPr/>
          <p:nvPr/>
        </p:nvSpPr>
        <p:spPr>
          <a:xfrm>
            <a:off x="274320" y="4681800"/>
            <a:ext cx="8595000" cy="347040"/>
          </a:xfrm>
          <a:prstGeom prst="rect">
            <a:avLst/>
          </a:prstGeom>
          <a:solidFill>
            <a:srgbClr val="1f2937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5"/>
          <p:cNvSpPr/>
          <p:nvPr/>
        </p:nvSpPr>
        <p:spPr>
          <a:xfrm>
            <a:off x="411480" y="4727520"/>
            <a:ext cx="8320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Observability: CloudWatch (macro) · OTel + Deployment Hash (micro trace) · AgentCore agentic trace routing · Override rate dashboard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365760" y="1828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e2761"/>
                </a:solidFill>
                <a:latin typeface="Calibri"/>
                <a:ea typeface="Calibri"/>
              </a:rPr>
              <a:t>Evaluation Framework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365760" y="68580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4a5568"/>
                </a:solidFill>
                <a:latin typeface="Calibri"/>
              </a:rPr>
              <a:t>A continuous quality system — not a one-time pre-production check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2"/>
          <p:cNvSpPr/>
          <p:nvPr/>
        </p:nvSpPr>
        <p:spPr>
          <a:xfrm>
            <a:off x="365760" y="10515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6b7280"/>
                </a:solidFill>
                <a:latin typeface="Calibri"/>
              </a:rPr>
              <a:t>LAYERED METRICS PER PIPELINE STAGE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7" name="Table 0"/>
          <p:cNvGraphicFramePr/>
          <p:nvPr/>
        </p:nvGraphicFramePr>
        <p:xfrm>
          <a:off x="274320" y="1325880"/>
          <a:ext cx="5668920" cy="2441880"/>
        </p:xfrm>
        <a:graphic>
          <a:graphicData uri="http://schemas.openxmlformats.org/drawingml/2006/table">
            <a:tbl>
              <a:tblPr/>
              <a:tblGrid>
                <a:gridCol w="1371600"/>
                <a:gridCol w="1920240"/>
                <a:gridCol w="2377440"/>
              </a:tblGrid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  <a:endParaRPr b="0" lang="en-US" sz="9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  <a:endParaRPr b="0" lang="en-US" sz="9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Production Gate</a:t>
                      </a:r>
                      <a:endParaRPr b="0" lang="en-US" sz="9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</a:tr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Textract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Character Error Rate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&lt; 2% CER on stratified sample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Comprehend NER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Entity Precision + Recall (separate)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Recall weighted higher — missed claim worse than false positive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Lineage Inference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% Correct Project ID Match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Baseline established in Phase 1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Final ERP Payload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Exact Match Rate vs Ground Truth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&gt; 85% before any autonomy granted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Production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Human Override Rate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&lt; 5% sustained 30 days → autonomy gate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1d5db"/>
                      </a:solidFill>
                      <a:prstDash val="solid"/>
                    </a:lnL>
                    <a:lnR w="6480">
                      <a:solidFill>
                        <a:srgbClr val="d1d5db"/>
                      </a:solidFill>
                      <a:prstDash val="solid"/>
                    </a:lnR>
                    <a:lnT w="6480">
                      <a:solidFill>
                        <a:srgbClr val="d1d5db"/>
                      </a:solidFill>
                      <a:prstDash val="solid"/>
                    </a:lnT>
                    <a:lnB w="6480">
                      <a:solidFill>
                        <a:srgbClr val="d1d5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Shape 3"/>
          <p:cNvSpPr/>
          <p:nvPr/>
        </p:nvSpPr>
        <p:spPr>
          <a:xfrm>
            <a:off x="6126480" y="1051560"/>
            <a:ext cx="2834280" cy="2651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6217920" y="114300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7" strike="noStrike">
                <a:solidFill>
                  <a:srgbClr val="cadcfc"/>
                </a:solidFill>
                <a:latin typeface="Calibri"/>
              </a:rPr>
              <a:t>STRATIFIED GOLDEN DATASET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5"/>
          <p:cNvSpPr/>
          <p:nvPr/>
        </p:nvSpPr>
        <p:spPr>
          <a:xfrm>
            <a:off x="6217920" y="1508760"/>
            <a:ext cx="26514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1.  Contract type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(subcontract, supply, professional services)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2.  Jurisdiction &amp; language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3.  Data completeness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(clean vs. missing lineage — the hard cases)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4.  Change complexity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(unit price vs. multi-clause amendment)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6"/>
          <p:cNvSpPr/>
          <p:nvPr/>
        </p:nvSpPr>
        <p:spPr>
          <a:xfrm>
            <a:off x="274320" y="3794760"/>
            <a:ext cx="8686440" cy="1206720"/>
          </a:xfrm>
          <a:prstGeom prst="rect">
            <a:avLst/>
          </a:prstGeom>
          <a:solidFill>
            <a:srgbClr val="d1fae5"/>
          </a:solidFill>
          <a:ln w="12700">
            <a:solidFill>
              <a:srgbClr val="065f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7"/>
          <p:cNvSpPr/>
          <p:nvPr/>
        </p:nvSpPr>
        <p:spPr>
          <a:xfrm>
            <a:off x="411480" y="385884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065f46"/>
                </a:solidFill>
                <a:latin typeface="Calibri"/>
              </a:rPr>
              <a:t>CONTINUOUS FEEDBACK LOOP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8"/>
          <p:cNvSpPr/>
          <p:nvPr/>
        </p:nvSpPr>
        <p:spPr>
          <a:xfrm>
            <a:off x="365760" y="4133160"/>
            <a:ext cx="1572480" cy="749520"/>
          </a:xfrm>
          <a:prstGeom prst="rect">
            <a:avLst/>
          </a:prstGeom>
          <a:solidFill>
            <a:srgbClr val="ffffff"/>
          </a:solidFill>
          <a:ln w="1016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9"/>
          <p:cNvSpPr/>
          <p:nvPr/>
        </p:nvSpPr>
        <p:spPr>
          <a:xfrm>
            <a:off x="402480" y="4169520"/>
            <a:ext cx="149940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11827"/>
                </a:solidFill>
                <a:latin typeface="Calibri"/>
              </a:rPr>
              <a:t>Human Override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11827"/>
                </a:solidFill>
                <a:latin typeface="Calibri"/>
              </a:rPr>
              <a:t>in Production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10"/>
          <p:cNvSpPr/>
          <p:nvPr/>
        </p:nvSpPr>
        <p:spPr>
          <a:xfrm>
            <a:off x="1938240" y="4507920"/>
            <a:ext cx="164880" cy="360"/>
          </a:xfrm>
          <a:prstGeom prst="line">
            <a:avLst/>
          </a:prstGeom>
          <a:ln w="1905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11"/>
          <p:cNvSpPr/>
          <p:nvPr/>
        </p:nvSpPr>
        <p:spPr>
          <a:xfrm>
            <a:off x="2103120" y="4133160"/>
            <a:ext cx="1572480" cy="749520"/>
          </a:xfrm>
          <a:prstGeom prst="rect">
            <a:avLst/>
          </a:prstGeom>
          <a:solidFill>
            <a:srgbClr val="ffffff"/>
          </a:solidFill>
          <a:ln w="1016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12"/>
          <p:cNvSpPr/>
          <p:nvPr/>
        </p:nvSpPr>
        <p:spPr>
          <a:xfrm>
            <a:off x="2139840" y="4169520"/>
            <a:ext cx="149940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11827"/>
                </a:solidFill>
                <a:latin typeface="Calibri"/>
              </a:rPr>
              <a:t>Written to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11827"/>
                </a:solidFill>
                <a:latin typeface="Calibri"/>
              </a:rPr>
              <a:t>Feedback Store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13"/>
          <p:cNvSpPr/>
          <p:nvPr/>
        </p:nvSpPr>
        <p:spPr>
          <a:xfrm>
            <a:off x="3675600" y="4507920"/>
            <a:ext cx="164880" cy="360"/>
          </a:xfrm>
          <a:prstGeom prst="line">
            <a:avLst/>
          </a:prstGeom>
          <a:ln w="1905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14"/>
          <p:cNvSpPr/>
          <p:nvPr/>
        </p:nvSpPr>
        <p:spPr>
          <a:xfrm>
            <a:off x="3840480" y="4133160"/>
            <a:ext cx="1572480" cy="749520"/>
          </a:xfrm>
          <a:prstGeom prst="rect">
            <a:avLst/>
          </a:prstGeom>
          <a:solidFill>
            <a:srgbClr val="ffffff"/>
          </a:solidFill>
          <a:ln w="1016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3877200" y="4169520"/>
            <a:ext cx="149940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11827"/>
                </a:solidFill>
                <a:latin typeface="Calibri"/>
              </a:rPr>
              <a:t>Promoted to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11827"/>
                </a:solidFill>
                <a:latin typeface="Calibri"/>
              </a:rPr>
              <a:t>Golden Dataset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16"/>
          <p:cNvSpPr/>
          <p:nvPr/>
        </p:nvSpPr>
        <p:spPr>
          <a:xfrm>
            <a:off x="5412960" y="4507920"/>
            <a:ext cx="164880" cy="360"/>
          </a:xfrm>
          <a:prstGeom prst="line">
            <a:avLst/>
          </a:prstGeom>
          <a:ln w="1905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17"/>
          <p:cNvSpPr/>
          <p:nvPr/>
        </p:nvSpPr>
        <p:spPr>
          <a:xfrm>
            <a:off x="5577840" y="4133160"/>
            <a:ext cx="1572480" cy="749520"/>
          </a:xfrm>
          <a:prstGeom prst="rect">
            <a:avLst/>
          </a:prstGeom>
          <a:solidFill>
            <a:srgbClr val="ffffff"/>
          </a:solidFill>
          <a:ln w="1016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8"/>
          <p:cNvSpPr/>
          <p:nvPr/>
        </p:nvSpPr>
        <p:spPr>
          <a:xfrm>
            <a:off x="5614560" y="4169520"/>
            <a:ext cx="149940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11827"/>
                </a:solidFill>
                <a:latin typeface="Calibri"/>
              </a:rPr>
              <a:t>Comprehend + Prompt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11827"/>
                </a:solidFill>
                <a:latin typeface="Calibri"/>
              </a:rPr>
              <a:t>Re-tuning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19"/>
          <p:cNvSpPr/>
          <p:nvPr/>
        </p:nvSpPr>
        <p:spPr>
          <a:xfrm>
            <a:off x="7150320" y="4507920"/>
            <a:ext cx="164880" cy="360"/>
          </a:xfrm>
          <a:prstGeom prst="line">
            <a:avLst/>
          </a:prstGeom>
          <a:ln w="1905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20"/>
          <p:cNvSpPr/>
          <p:nvPr/>
        </p:nvSpPr>
        <p:spPr>
          <a:xfrm>
            <a:off x="7315200" y="4133160"/>
            <a:ext cx="1572480" cy="749520"/>
          </a:xfrm>
          <a:prstGeom prst="rect">
            <a:avLst/>
          </a:prstGeom>
          <a:solidFill>
            <a:srgbClr val="ffffff"/>
          </a:solidFill>
          <a:ln w="1016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21"/>
          <p:cNvSpPr/>
          <p:nvPr/>
        </p:nvSpPr>
        <p:spPr>
          <a:xfrm>
            <a:off x="7351920" y="4169520"/>
            <a:ext cx="149940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11827"/>
                </a:solidFill>
                <a:latin typeface="Calibri"/>
              </a:rPr>
              <a:t>Drift Detection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11827"/>
                </a:solidFill>
                <a:latin typeface="Calibri"/>
              </a:rPr>
              <a:t>(rising override rate = early warning)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365760" y="1828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Phased Rollout &amp; Key Risks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Shape 1"/>
          <p:cNvSpPr/>
          <p:nvPr/>
        </p:nvSpPr>
        <p:spPr>
          <a:xfrm>
            <a:off x="274320" y="822960"/>
            <a:ext cx="2834280" cy="3245760"/>
          </a:xfrm>
          <a:prstGeom prst="rect">
            <a:avLst/>
          </a:prstGeom>
          <a:solidFill>
            <a:srgbClr val="1f2937"/>
          </a:solidFill>
          <a:ln w="1905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2"/>
          <p:cNvSpPr/>
          <p:nvPr/>
        </p:nvSpPr>
        <p:spPr>
          <a:xfrm>
            <a:off x="274320" y="822960"/>
            <a:ext cx="2834280" cy="475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3"/>
          <p:cNvSpPr/>
          <p:nvPr/>
        </p:nvSpPr>
        <p:spPr>
          <a:xfrm>
            <a:off x="365760" y="859680"/>
            <a:ext cx="2651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PHASE 1  ·  Shadow Mode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4"/>
          <p:cNvSpPr/>
          <p:nvPr/>
        </p:nvSpPr>
        <p:spPr>
          <a:xfrm>
            <a:off x="384120" y="1334880"/>
            <a:ext cx="2614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900" spc="-1" strike="noStrike">
                <a:solidFill>
                  <a:srgbClr val="028090"/>
                </a:solidFill>
                <a:latin typeface="Calibri"/>
              </a:rPr>
              <a:t>Weeks 1–8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5"/>
          <p:cNvSpPr/>
          <p:nvPr/>
        </p:nvSpPr>
        <p:spPr>
          <a:xfrm>
            <a:off x="384120" y="1627560"/>
            <a:ext cx="261468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Single contract type, single project, single region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Full HITL — zero autonomy, all outputs reviewed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Establish baseline F1 and override rates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Validate HITL portal and redlining workflow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6"/>
          <p:cNvSpPr/>
          <p:nvPr/>
        </p:nvSpPr>
        <p:spPr>
          <a:xfrm>
            <a:off x="347400" y="3346560"/>
            <a:ext cx="2669760" cy="594000"/>
          </a:xfrm>
          <a:prstGeom prst="rect">
            <a:avLst/>
          </a:prstGeom>
          <a:solidFill>
            <a:srgbClr val="111827"/>
          </a:solidFill>
          <a:ln w="1016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7"/>
          <p:cNvSpPr/>
          <p:nvPr/>
        </p:nvSpPr>
        <p:spPr>
          <a:xfrm>
            <a:off x="402480" y="3383280"/>
            <a:ext cx="255996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028090"/>
                </a:solidFill>
                <a:latin typeface="Calibri"/>
              </a:rPr>
              <a:t>Gate: Extraction F1 &gt; 0.92 · ERP exact match &gt; 0.85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Shape 8"/>
          <p:cNvSpPr/>
          <p:nvPr/>
        </p:nvSpPr>
        <p:spPr>
          <a:xfrm>
            <a:off x="3264480" y="822960"/>
            <a:ext cx="2834280" cy="3245760"/>
          </a:xfrm>
          <a:prstGeom prst="rect">
            <a:avLst/>
          </a:prstGeom>
          <a:solidFill>
            <a:srgbClr val="1f2937"/>
          </a:solidFill>
          <a:ln w="19050">
            <a:solidFill>
              <a:srgbClr val="d9770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9"/>
          <p:cNvSpPr/>
          <p:nvPr/>
        </p:nvSpPr>
        <p:spPr>
          <a:xfrm>
            <a:off x="3264480" y="822960"/>
            <a:ext cx="2834280" cy="475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10"/>
          <p:cNvSpPr/>
          <p:nvPr/>
        </p:nvSpPr>
        <p:spPr>
          <a:xfrm>
            <a:off x="3355920" y="859680"/>
            <a:ext cx="2651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PHASE 2  ·  Controlled Autonomy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11"/>
          <p:cNvSpPr/>
          <p:nvPr/>
        </p:nvSpPr>
        <p:spPr>
          <a:xfrm>
            <a:off x="3374280" y="1334880"/>
            <a:ext cx="2614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900" spc="-1" strike="noStrike">
                <a:solidFill>
                  <a:srgbClr val="d97706"/>
                </a:solidFill>
                <a:latin typeface="Calibri"/>
              </a:rPr>
              <a:t>Weeks 9–20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12"/>
          <p:cNvSpPr/>
          <p:nvPr/>
        </p:nvSpPr>
        <p:spPr>
          <a:xfrm>
            <a:off x="3374280" y="1627560"/>
            <a:ext cx="261468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Expand to additional contract types and second region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Override monitoring active — threshold locked until 5% sustained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Change notice drafting live — legal sign-off obtained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PMIS polling and claim lifecycle validated end-to-end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13"/>
          <p:cNvSpPr/>
          <p:nvPr/>
        </p:nvSpPr>
        <p:spPr>
          <a:xfrm>
            <a:off x="3337560" y="3346560"/>
            <a:ext cx="2669760" cy="594000"/>
          </a:xfrm>
          <a:prstGeom prst="rect">
            <a:avLst/>
          </a:prstGeom>
          <a:solidFill>
            <a:srgbClr val="111827"/>
          </a:solidFill>
          <a:ln w="1016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14"/>
          <p:cNvSpPr/>
          <p:nvPr/>
        </p:nvSpPr>
        <p:spPr>
          <a:xfrm>
            <a:off x="3392280" y="3383280"/>
            <a:ext cx="255996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d97706"/>
                </a:solidFill>
                <a:latin typeface="Calibri"/>
              </a:rPr>
              <a:t>Gate: 30-day override rate &lt; 5% on Phase 1 contract type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15"/>
          <p:cNvSpPr/>
          <p:nvPr/>
        </p:nvSpPr>
        <p:spPr>
          <a:xfrm>
            <a:off x="6254640" y="822960"/>
            <a:ext cx="2834280" cy="32457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5f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Shape 16"/>
          <p:cNvSpPr/>
          <p:nvPr/>
        </p:nvSpPr>
        <p:spPr>
          <a:xfrm>
            <a:off x="6254640" y="822960"/>
            <a:ext cx="2834280" cy="47520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17"/>
          <p:cNvSpPr/>
          <p:nvPr/>
        </p:nvSpPr>
        <p:spPr>
          <a:xfrm>
            <a:off x="6346080" y="859680"/>
            <a:ext cx="2651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PHASE 3  ·  Scaled Deployment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18"/>
          <p:cNvSpPr/>
          <p:nvPr/>
        </p:nvSpPr>
        <p:spPr>
          <a:xfrm>
            <a:off x="6364080" y="1334880"/>
            <a:ext cx="2614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900" spc="-1" strike="noStrike">
                <a:solidFill>
                  <a:srgbClr val="065f46"/>
                </a:solidFill>
                <a:latin typeface="Calibri"/>
              </a:rPr>
              <a:t>Week 21+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19"/>
          <p:cNvSpPr/>
          <p:nvPr/>
        </p:nvSpPr>
        <p:spPr>
          <a:xfrm>
            <a:off x="6364080" y="1627560"/>
            <a:ext cx="261468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Progressive autonomy on qualifying document classes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Multi-region routing and data residency controls active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Feedback loop operational — corrections → model improvement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adcfc"/>
                </a:solidFill>
                <a:latin typeface="Calibri"/>
              </a:rPr>
              <a:t>Circuit breaker thresholds tuned from production variance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20"/>
          <p:cNvSpPr/>
          <p:nvPr/>
        </p:nvSpPr>
        <p:spPr>
          <a:xfrm>
            <a:off x="6327720" y="3346560"/>
            <a:ext cx="2669760" cy="594000"/>
          </a:xfrm>
          <a:prstGeom prst="rect">
            <a:avLst/>
          </a:prstGeom>
          <a:solidFill>
            <a:srgbClr val="111827"/>
          </a:solidFill>
          <a:ln w="10160">
            <a:solidFill>
              <a:srgbClr val="065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21"/>
          <p:cNvSpPr/>
          <p:nvPr/>
        </p:nvSpPr>
        <p:spPr>
          <a:xfrm>
            <a:off x="6382440" y="3383280"/>
            <a:ext cx="255996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065f46"/>
                </a:solidFill>
                <a:latin typeface="Calibri"/>
              </a:rPr>
              <a:t>Gate: No degradation in override rate trend over 60 days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22"/>
          <p:cNvSpPr/>
          <p:nvPr/>
        </p:nvSpPr>
        <p:spPr>
          <a:xfrm>
            <a:off x="365760" y="418788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cadcfc"/>
                </a:solidFill>
                <a:latin typeface="Calibri"/>
              </a:rPr>
              <a:t>KEY RISKS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23"/>
          <p:cNvSpPr/>
          <p:nvPr/>
        </p:nvSpPr>
        <p:spPr>
          <a:xfrm>
            <a:off x="274320" y="4462200"/>
            <a:ext cx="2057040" cy="566640"/>
          </a:xfrm>
          <a:prstGeom prst="rect">
            <a:avLst/>
          </a:prstGeom>
          <a:solidFill>
            <a:srgbClr val="1f2937"/>
          </a:solidFill>
          <a:ln w="1016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24"/>
          <p:cNvSpPr/>
          <p:nvPr/>
        </p:nvSpPr>
        <p:spPr>
          <a:xfrm>
            <a:off x="347400" y="4498920"/>
            <a:ext cx="19198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PMIS API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Design file-based fallback from day one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Shape 25"/>
          <p:cNvSpPr/>
          <p:nvPr/>
        </p:nvSpPr>
        <p:spPr>
          <a:xfrm>
            <a:off x="2487240" y="4462200"/>
            <a:ext cx="2057040" cy="566640"/>
          </a:xfrm>
          <a:prstGeom prst="rect">
            <a:avLst/>
          </a:prstGeom>
          <a:solidFill>
            <a:srgbClr val="1f2937"/>
          </a:solidFill>
          <a:ln w="1016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26"/>
          <p:cNvSpPr/>
          <p:nvPr/>
        </p:nvSpPr>
        <p:spPr>
          <a:xfrm>
            <a:off x="2560320" y="4498920"/>
            <a:ext cx="19198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Legal sign-off on AI drafts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Involve legal in Phase 1 shadow review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Shape 27"/>
          <p:cNvSpPr/>
          <p:nvPr/>
        </p:nvSpPr>
        <p:spPr>
          <a:xfrm>
            <a:off x="4700160" y="4462200"/>
            <a:ext cx="2057040" cy="566640"/>
          </a:xfrm>
          <a:prstGeom prst="rect">
            <a:avLst/>
          </a:prstGeom>
          <a:solidFill>
            <a:srgbClr val="1f2937"/>
          </a:solidFill>
          <a:ln w="1016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28"/>
          <p:cNvSpPr/>
          <p:nvPr/>
        </p:nvSpPr>
        <p:spPr>
          <a:xfrm>
            <a:off x="4773240" y="4498920"/>
            <a:ext cx="19198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Golden dataset quality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Domain expert audit before construction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29"/>
          <p:cNvSpPr/>
          <p:nvPr/>
        </p:nvSpPr>
        <p:spPr>
          <a:xfrm>
            <a:off x="6912720" y="4462200"/>
            <a:ext cx="2057040" cy="566640"/>
          </a:xfrm>
          <a:prstGeom prst="rect">
            <a:avLst/>
          </a:prstGeom>
          <a:solidFill>
            <a:srgbClr val="1f2937"/>
          </a:solidFill>
          <a:ln w="1016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 30"/>
          <p:cNvSpPr/>
          <p:nvPr/>
        </p:nvSpPr>
        <p:spPr>
          <a:xfrm>
            <a:off x="6986160" y="4498920"/>
            <a:ext cx="19198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HITL bottleneck at scale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adcfc"/>
                </a:solidFill>
                <a:latin typeface="Calibri"/>
              </a:rPr>
              <a:t>SLAs set against workforce, not compute capacity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2026-04-28T02:55:08Z</dcterms:created>
  <dc:creator>Solution Architect</dc:creator>
  <dc:description/>
  <dc:language>en-US</dc:language>
  <cp:lastModifiedBy/>
  <dcterms:modified xsi:type="dcterms:W3CDTF">2026-04-28T22:01:52Z</dcterms:modified>
  <cp:revision>2</cp:revision>
  <dc:subject>PptxGenJS Presentation</dc:subject>
  <dc:title>AI-Enabled Commercial Change Management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